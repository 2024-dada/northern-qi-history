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mp3" ContentType="audio/m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19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p14="http://schemas.microsoft.com/office/powerpoint/2010/main">
  <p:showPr useTimings="1"/>
  <p:extLst>
    <p:ext uri="{E76CE94A-603C-4142-B9EB-6D1370010A27}">
      <p14:discardImageEditData val="0"/>
    </p:ext>
    <p:ext uri="{D31A062A-798A-4329-ABDD-BBA856620510}">
      <p14:defaultImageDpi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  <Relationship Id="rId19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北齐建立于五百五十年，二十七年后灭亡。今天我们不把高氏皇室简单贴上“嗜杀”的标签，而是沿着事件时间线，看看谁在什么处境下作出决定，再追问史料能证明什么。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分清三个人。高欢奠定了高氏在东魏的权力基础；他的儿子高澄继承这份权力，在东魏掌政，但在五百四十九年遇刺。次年，高洋接受禅让、建立北齐，所以北齐的开国皇帝是高洋。高欢和高澄后来被追尊为帝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从五百五十年建国到五百七十七年灭亡，几个节点可以帮助我们定位案例：高洋时期有高德政案和薛嫔案；高湛时期有高孝瑜、高孝琬之死；高纬时期则有高俨、斛律光和兰陵王高长恭等案。薛嫔案只确定在天保年间，具体年份尚不能从现有材料锁定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读一桩暴力事件，至少分清四件事：受害者是谁，之前发生了什么冲突或指控，谁作出决定或下令，谁直接执行。最后还要问史书怎样记、哪些环节没有写清。把这些层次分开，才不会把猜测当成事实，也不会把整个家族当成一个行动者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高德政曾帮助高洋推动禅代，后来又多次劝谏。传记记下高洋亲自刺伤他、命人伤其足、将他拘禁；之后高德政的妻子和儿子也被杀害。事件是分阶段发展的，不宜压成一次动作。史书还记载高洋事后的说法，但那是事后解释，不能代替前面的经过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五百六十三年，高孝瑜在宫廷冲突后遭强制饮酒并被押送，随后死亡。《北齐书》与《资治通鉴》在关键字上分别留下“槛”和“鸩”的差异，因此我们只说强制行为后死亡，不把毒杀当成已无争议的结论。五百六十六年，高孝琬则是被太上皇高湛折断双胫致死；不能因为当时高纬在位，就把这件事算到高纬名下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高俨是高纬的弟弟。他此前杀死权臣和士开，并调动京畿军队，兄弟间的权力冲突因此升级。史书记高纬下令杀高俨，由刘桃枝等执行。祖珽还引用“周公诛管叔，季友鸩庆父”劝说高纬。这段典故说明政治人物如何为决定寻找历史先例，不等于文化传统单独造成了杀害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斛律光是掌兵重臣。史书记载中，一则与韦孝宽相关的敌方谣言和朝中竞争进入了事件背景；高纬召见并作出决定，刘桃枝等人直接执行。分析时要分开信息来源、决策者和执行者。不同记载对月份并不一致，部分传递环节也仍待核查，所以关系图只能表示史料所见，不能当作已经证实的幕后全景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五百七十三年，高纬派徐之范送毒药给兰陵王高长恭。再看高洋时期的薛嫔案：现有记载只把它放在天保年间。本纪突出高洋突然起疑并斩首，后妃传则记到薛嫔怀孕、生产后被杀；明代学者《史纠》也指出两篇叙述有差异。不同记载可以比较，但不能拼成一个确定的现场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把这些个案放在一起，最主要的解释是权力与安全：皇位继承、宗室地位和兵权会影响君主如何看待身边的人。宫廷竞争和信息传递常是重要的促成因素；劝谏、亲属冲突或羞辱感则可能触发个别事件。礼制和历史典故能提供政治说辞，却不足以单独解释行为。现有史料也不支持给古人作现代精神疾病诊断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五百七十七年，北周军队逼近北齐都城，后主和幼主经历出逃、禅位与被俘，政权随之终结。我们可以把宫廷决策失序放进背景，但不能把前面几桩暴力事件直接说成亡国的唯一原因。军事压力、朝廷应对和权力安排，都需要分别考察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片以识典古籍所收《北齐书》《北史》篇章为主要原典入口，并以《资治通鉴》辅助比较。正史是后世编纂，不是现场记录；录文也不等于完成了版本校勘。同一叙述出现在多书中，也不自动代表多份独立见证。想继续核对原文，可以打开本片的史料索引，或进入课程网站自由探索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northern-qi-timeline-video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northern-qi-timeline-video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2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25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1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9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6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5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225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21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9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6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5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  <Relationship Id="rId3" Type="http://schemas.microsoft.com/office/2007/relationships/media" Target="../media/narration1.mp3"/>
  <Relationship Id="rId4" Type="http://schemas.openxmlformats.org/officeDocument/2006/relationships/audio" Target="../media/narration1.mp3"/>
  <Relationship Id="rId5" Type="http://schemas.openxmlformats.org/officeDocument/2006/relationships/image" Target="../media/narration_poster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  <Relationship Id="rId3" Type="http://schemas.microsoft.com/office/2007/relationships/media" Target="../media/narration2.mp3"/>
  <Relationship Id="rId4" Type="http://schemas.openxmlformats.org/officeDocument/2006/relationships/audio" Target="../media/narration2.mp3"/>
  <Relationship Id="rId5" Type="http://schemas.openxmlformats.org/officeDocument/2006/relationships/image" Target="../media/narration_poster.png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  <Relationship Id="rId3" Type="http://schemas.microsoft.com/office/2007/relationships/media" Target="../media/narration3.mp3"/>
  <Relationship Id="rId4" Type="http://schemas.openxmlformats.org/officeDocument/2006/relationships/audio" Target="../media/narration3.mp3"/>
  <Relationship Id="rId5" Type="http://schemas.openxmlformats.org/officeDocument/2006/relationships/image" Target="../media/narration_poster.png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  <Relationship Id="rId3" Type="http://schemas.microsoft.com/office/2007/relationships/media" Target="../media/narration4.mp3"/>
  <Relationship Id="rId4" Type="http://schemas.openxmlformats.org/officeDocument/2006/relationships/audio" Target="../media/narration4.mp3"/>
  <Relationship Id="rId5" Type="http://schemas.openxmlformats.org/officeDocument/2006/relationships/image" Target="../media/narration_poster.png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5.xml"/>
  <Relationship Id="rId3" Type="http://schemas.microsoft.com/office/2007/relationships/media" Target="../media/narration5.mp3"/>
  <Relationship Id="rId4" Type="http://schemas.openxmlformats.org/officeDocument/2006/relationships/audio" Target="../media/narration5.mp3"/>
  <Relationship Id="rId5" Type="http://schemas.openxmlformats.org/officeDocument/2006/relationships/image" Target="../media/narration_poster.png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6.xml"/>
  <Relationship Id="rId3" Type="http://schemas.microsoft.com/office/2007/relationships/media" Target="../media/narration6.mp3"/>
  <Relationship Id="rId4" Type="http://schemas.openxmlformats.org/officeDocument/2006/relationships/audio" Target="../media/narration6.mp3"/>
  <Relationship Id="rId5" Type="http://schemas.openxmlformats.org/officeDocument/2006/relationships/image" Target="../media/narration_poster.png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7.xml"/>
  <Relationship Id="rId3" Type="http://schemas.microsoft.com/office/2007/relationships/media" Target="../media/narration7.mp3"/>
  <Relationship Id="rId4" Type="http://schemas.openxmlformats.org/officeDocument/2006/relationships/audio" Target="../media/narration7.mp3"/>
  <Relationship Id="rId5" Type="http://schemas.openxmlformats.org/officeDocument/2006/relationships/image" Target="../media/narration_poster.png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8.xml"/>
  <Relationship Id="rId3" Type="http://schemas.microsoft.com/office/2007/relationships/media" Target="../media/narration8.mp3"/>
  <Relationship Id="rId4" Type="http://schemas.openxmlformats.org/officeDocument/2006/relationships/audio" Target="../media/narration8.mp3"/>
  <Relationship Id="rId5" Type="http://schemas.openxmlformats.org/officeDocument/2006/relationships/image" Target="../media/narration_poster.png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9.xml"/>
  <Relationship Id="rId3" Type="http://schemas.microsoft.com/office/2007/relationships/media" Target="../media/narration9.mp3"/>
  <Relationship Id="rId4" Type="http://schemas.openxmlformats.org/officeDocument/2006/relationships/audio" Target="../media/narration9.mp3"/>
  <Relationship Id="rId5" Type="http://schemas.openxmlformats.org/officeDocument/2006/relationships/image" Target="../media/narration_poster.png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0.xml"/>
  <Relationship Id="rId3" Type="http://schemas.microsoft.com/office/2007/relationships/media" Target="../media/narration10.mp3"/>
  <Relationship Id="rId4" Type="http://schemas.openxmlformats.org/officeDocument/2006/relationships/audio" Target="../media/narration10.mp3"/>
  <Relationship Id="rId5" Type="http://schemas.openxmlformats.org/officeDocument/2006/relationships/image" Target="../media/narration_poster.png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1.xml"/>
  <Relationship Id="rId3" Type="http://schemas.microsoft.com/office/2007/relationships/media" Target="../media/narration11.mp3"/>
  <Relationship Id="rId4" Type="http://schemas.openxmlformats.org/officeDocument/2006/relationships/audio" Target="../media/narration11.mp3"/>
  <Relationship Id="rId5" Type="http://schemas.openxmlformats.org/officeDocument/2006/relationships/image" Target="../media/narration_poster.png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hyperlink" Target="https://www.shidianguji.com/book/LS0011/chapter/LS0011_8" TargetMode="External"/>
  <Relationship Id="rId3" Type="http://schemas.openxmlformats.org/officeDocument/2006/relationships/hyperlink" Target="https://www.shidianguji.com/book/LS0011/chapter/LS0011_155" TargetMode="External"/>
  <Relationship Id="rId4" Type="http://schemas.openxmlformats.org/officeDocument/2006/relationships/hyperlink" Target="https://www.shidianguji.com/book/LS0011/chapter/LS0011_40" TargetMode="External"/>
  <Relationship Id="rId5" Type="http://schemas.openxmlformats.org/officeDocument/2006/relationships/hyperlink" Target="https://www.shidianguji.com/book/LS0011/chapter/LS0011_42" TargetMode="External"/>
  <Relationship Id="rId6" Type="http://schemas.openxmlformats.org/officeDocument/2006/relationships/hyperlink" Target="https://www.shidianguji.com/book/LS0011/chapter/LS0011_53" TargetMode="External"/>
  <Relationship Id="rId7" Type="http://schemas.openxmlformats.org/officeDocument/2006/relationships/hyperlink" Target="https://www.shidianguji.com/book/NGJ8924119990125431003/chapter/1lq09on9r1hye" TargetMode="External"/>
  <Relationship Id="rId8" Type="http://schemas.openxmlformats.org/officeDocument/2006/relationships/hyperlink" Target="https://www.shidianguji.com/book/LS0011/chapter/LS0011_43" TargetMode="External"/>
  <Relationship Id="rId9" Type="http://schemas.openxmlformats.org/officeDocument/2006/relationships/hyperlink" Target="https://www.shidianguji.com/book/LS0015/chapter/LS0015_9" TargetMode="External"/>
  <Relationship Id="rId10" Type="http://schemas.openxmlformats.org/officeDocument/2006/relationships/hyperlink" Target="https://www.shidianguji.com/zh/book/NGJ8924119990125431003/chapter/1lq382xya9zwp" TargetMode="External"/>
  <Relationship Id="rId11" Type="http://schemas.openxmlformats.org/officeDocument/2006/relationships/hyperlink" Target="https://www.shidianguji.com/book/LS0011/chapter/LS0011_18" TargetMode="External"/>
  <Relationship Id="rId12" Type="http://schemas.openxmlformats.org/officeDocument/2006/relationships/hyperlink" Target="https://2024-dada.github.io/northern-qi-history/" TargetMode="External"/>
  <Relationship Id="rId13" Type="http://schemas.openxmlformats.org/officeDocument/2006/relationships/notesSlide" Target="../notesSlides/notesSlide12.xml"/>
  <Relationship Id="rId14" Type="http://schemas.microsoft.com/office/2007/relationships/media" Target="../media/narration12.mp3"/>
  <Relationship Id="rId15" Type="http://schemas.openxmlformats.org/officeDocument/2006/relationships/audio" Target="../media/narration12.mp3"/>
  <Relationship Id="rId16" Type="http://schemas.openxmlformats.org/officeDocument/2006/relationships/image" Target="../media/narration_poster.png"/>
</Relationships>
</file>

<file path=ppt/slides/slide1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title"/>
          <p:cNvGrpSpPr/>
          <p:nvPr/>
        </p:nvGrpSpPr>
        <p:grpSpPr>
          <a:xfrm>
            <a:off x="895350" y="898525"/>
            <a:ext cx="5414772" cy="2098675"/>
            <a:chOff x="895350" y="898525"/>
            <a:chExt cx="5414772" cy="2098675"/>
          </a:xfrm>
        </p:grpSpPr>
        <p:sp>
          <p:nvSpPr>
            <p:cNvPr id="2" name="TextBox 2"/>
            <p:cNvSpPr txBox="1"/>
            <p:nvPr/>
          </p:nvSpPr>
          <p:spPr>
            <a:xfrm>
              <a:off x="924306" y="898525"/>
              <a:ext cx="21564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spc="3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北齐 · 550—577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895350" y="1136650"/>
              <a:ext cx="5158740" cy="1162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北齐宫廷暴力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95350" y="2178050"/>
              <a:ext cx="541477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先看时间，再问原因</a:t>
              </a:r>
            </a:p>
          </p:txBody>
        </p:sp>
      </p:grpSp>
      <p:grpSp>
        <p:nvGrpSpPr>
          <p:cNvPr id="8" name="opening-question"/>
          <p:cNvGrpSpPr/>
          <p:nvPr/>
        </p:nvGrpSpPr>
        <p:grpSpPr>
          <a:xfrm>
            <a:off x="914400" y="3181350"/>
            <a:ext cx="6841998" cy="597916"/>
            <a:chOff x="914400" y="3181350"/>
            <a:chExt cx="6841998" cy="597916"/>
          </a:xfrm>
        </p:grpSpPr>
        <p:sp>
          <p:nvSpPr>
            <p:cNvPr id="6" name="Rectangle 6"/>
            <p:cNvSpPr/>
            <p:nvPr/>
          </p:nvSpPr>
          <p:spPr>
            <a:xfrm>
              <a:off x="914400" y="3181350"/>
              <a:ext cx="66675" cy="533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86434" y="3251200"/>
              <a:ext cx="656996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高氏皇室的宫廷暴力，为什么反复出现？</a:t>
              </a:r>
            </a:p>
          </p:txBody>
        </p:sp>
      </p:grpSp>
      <p:grpSp>
        <p:nvGrpSpPr>
          <p:cNvPr id="19" name="timeline-overview"/>
          <p:cNvGrpSpPr/>
          <p:nvPr/>
        </p:nvGrpSpPr>
        <p:grpSpPr>
          <a:xfrm>
            <a:off x="1368933" y="4137025"/>
            <a:ext cx="9518584" cy="1161669"/>
            <a:chOff x="1368933" y="4137025"/>
            <a:chExt cx="9518584" cy="1161669"/>
          </a:xfrm>
        </p:grpSpPr>
        <p:sp>
          <p:nvSpPr>
            <p:cNvPr id="9" name="Line 9"/>
            <p:cNvSpPr/>
            <p:nvPr/>
          </p:nvSpPr>
          <p:spPr>
            <a:xfrm>
              <a:off x="1428750" y="4686300"/>
              <a:ext cx="9334500" cy="9525"/>
            </a:xfrm>
            <a:custGeom>
              <a:avLst/>
              <a:gdLst/>
              <a:ahLst/>
              <a:cxnLst/>
              <a:rect l="l" t="t" r="r" b="b"/>
              <a:pathLst>
                <a:path w="9334500" h="9525">
                  <a:moveTo>
                    <a:pt x="0" y="0"/>
                  </a:moveTo>
                  <a:lnTo>
                    <a:pt x="9334500" y="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1485900" y="45720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6010275" y="4600575"/>
              <a:ext cx="171450" cy="1714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10458450" y="45720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368933" y="4137025"/>
              <a:ext cx="58413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550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858256" y="421322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逐案核对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303383" y="4137025"/>
              <a:ext cx="58413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577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71981" y="494665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北齐建立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353431" y="4946650"/>
              <a:ext cx="20295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人物 · 事件 · 原因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896856" y="494665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北齐灭亡</a:t>
              </a:r>
            </a:p>
          </p:txBody>
        </p:sp>
      </p:grpSp>
      <p:grpSp>
        <p:nvGrpSpPr>
          <p:cNvPr id="23" name="footer"/>
          <p:cNvGrpSpPr/>
          <p:nvPr/>
        </p:nvGrpSpPr>
        <p:grpSpPr>
          <a:xfrm>
            <a:off x="602742" y="6191250"/>
            <a:ext cx="10979658" cy="413258"/>
            <a:chOff x="602742" y="6191250"/>
            <a:chExt cx="10979658" cy="413258"/>
          </a:xfrm>
        </p:grpSpPr>
        <p:sp>
          <p:nvSpPr>
            <p:cNvPr id="20" name="Line 20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02742" y="6340475"/>
              <a:ext cx="80283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出处：《北齐书》卷四·文宣帝纪；《北齐书》·幼主传｜本片据史料整理，不复原未见于记载的现场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899267" y="6340475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 / 12</a:t>
              </a:r>
            </a:p>
          </p:txBody>
        </p:sp>
      </p:grpSp>
      <p:pic>
        <p:nvPicPr>
          <p:cNvPr id="24" name="PPT Master narration: narration1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p14:dur="400" advClick="0" advTm="16955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8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6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6" fill="hold" display="0">
                  <p:stCondLst>
                    <p:cond delay="400"/>
                  </p:stCondLst>
                </p:cTn>
                <p:tgtEl>
                  <p:spTgt spid="24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90550" y="454025"/>
            <a:ext cx="10991850" cy="819150"/>
            <a:chOff x="590550" y="454025"/>
            <a:chExt cx="10991850" cy="819150"/>
          </a:xfrm>
        </p:grpSpPr>
        <p:sp>
          <p:nvSpPr>
            <p:cNvPr id="2" name="TextBox 2"/>
            <p:cNvSpPr txBox="1"/>
            <p:nvPr/>
          </p:nvSpPr>
          <p:spPr>
            <a:xfrm>
              <a:off x="590550" y="454025"/>
              <a:ext cx="840181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谁建立了北齐？先区分三代人物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609600" y="12192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22" name="succession-map"/>
          <p:cNvGrpSpPr/>
          <p:nvPr/>
        </p:nvGrpSpPr>
        <p:grpSpPr>
          <a:xfrm>
            <a:off x="772668" y="2076450"/>
            <a:ext cx="10638282" cy="2386457"/>
            <a:chOff x="772668" y="2076450"/>
            <a:chExt cx="10638282" cy="2386457"/>
          </a:xfrm>
        </p:grpSpPr>
        <p:sp>
          <p:nvSpPr>
            <p:cNvPr id="5" name="Rectangle 5"/>
            <p:cNvSpPr/>
            <p:nvPr/>
          </p:nvSpPr>
          <p:spPr>
            <a:xfrm>
              <a:off x="781050" y="2076450"/>
              <a:ext cx="2857500" cy="1809750"/>
            </a:xfrm>
            <a:prstGeom prst="roundRect">
              <a:avLst>
                <a:gd name="adj" fmla="val 3158"/>
              </a:avLst>
            </a:prstGeom>
            <a:solidFill>
              <a:srgbClr val="FBF8F0"/>
            </a:solidFill>
            <a:ln w="14288">
              <a:solidFill>
                <a:schemeClr val="accent6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4667250" y="2076450"/>
              <a:ext cx="2857500" cy="1809750"/>
            </a:xfrm>
            <a:prstGeom prst="roundRect">
              <a:avLst>
                <a:gd name="adj" fmla="val 3158"/>
              </a:avLst>
            </a:prstGeom>
            <a:solidFill>
              <a:srgbClr val="FBF8F0"/>
            </a:solidFill>
            <a:ln w="14288">
              <a:solidFill>
                <a:schemeClr val="accent6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8553450" y="2076450"/>
              <a:ext cx="2857500" cy="1809750"/>
            </a:xfrm>
            <a:prstGeom prst="roundRect">
              <a:avLst>
                <a:gd name="adj" fmla="val 3158"/>
              </a:avLst>
            </a:prstGeom>
            <a:solidFill>
              <a:srgbClr val="FBF8F0"/>
            </a:solidFill>
            <a:ln w="23812">
              <a:solidFill>
                <a:schemeClr val="accent2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3638550" y="2857500"/>
              <a:ext cx="1028700" cy="9525"/>
            </a:xfrm>
            <a:custGeom>
              <a:avLst/>
              <a:gdLst/>
              <a:ahLst/>
              <a:cxnLst/>
              <a:rect l="l" t="t" r="r" b="b"/>
              <a:pathLst>
                <a:path w="1028700" h="9525">
                  <a:moveTo>
                    <a:pt x="0" y="0"/>
                  </a:moveTo>
                  <a:lnTo>
                    <a:pt x="102870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7524750" y="2857500"/>
              <a:ext cx="1028700" cy="9525"/>
            </a:xfrm>
            <a:custGeom>
              <a:avLst/>
              <a:gdLst/>
              <a:ahLst/>
              <a:cxnLst/>
              <a:rect l="l" t="t" r="r" b="b"/>
              <a:pathLst>
                <a:path w="1028700" h="9525">
                  <a:moveTo>
                    <a:pt x="0" y="0"/>
                  </a:moveTo>
                  <a:lnTo>
                    <a:pt x="102870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896868" y="2444750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父子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64018" y="2444750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兄弟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57656" y="243205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东魏权力基础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53084" y="2863850"/>
              <a:ext cx="79552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高欢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57656" y="342265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高氏政权奠基者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943856" y="243205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继承掌政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939284" y="2863850"/>
              <a:ext cx="79552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高澄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943856" y="3422650"/>
              <a:ext cx="235663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东魏掌政；549年遇刺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830056" y="243205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北齐开国皇帝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825484" y="2863850"/>
              <a:ext cx="79552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高洋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830056" y="3422650"/>
              <a:ext cx="235663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550年受禅，建立北齐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2668" y="4140200"/>
              <a:ext cx="62362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关系线表示家族与权力承接；不代表三人都曾在位为北齐皇帝。</a:t>
              </a:r>
            </a:p>
          </p:txBody>
        </p:sp>
      </p:grpSp>
      <p:grpSp>
        <p:nvGrpSpPr>
          <p:cNvPr id="25" name="takeaway"/>
          <p:cNvGrpSpPr/>
          <p:nvPr/>
        </p:nvGrpSpPr>
        <p:grpSpPr>
          <a:xfrm>
            <a:off x="914400" y="4905375"/>
            <a:ext cx="10363200" cy="685800"/>
            <a:chOff x="914400" y="4905375"/>
            <a:chExt cx="10363200" cy="685800"/>
          </a:xfrm>
        </p:grpSpPr>
        <p:sp>
          <p:nvSpPr>
            <p:cNvPr id="23" name="Rectangle 23"/>
            <p:cNvSpPr/>
            <p:nvPr/>
          </p:nvSpPr>
          <p:spPr>
            <a:xfrm>
              <a:off x="914400" y="4905375"/>
              <a:ext cx="10363200" cy="685800"/>
            </a:xfrm>
            <a:prstGeom prst="roundRect">
              <a:avLst>
                <a:gd name="adj" fmla="val 8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168908" y="5022850"/>
              <a:ext cx="648614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正式建国者是高洋；高欢、高澄为身后追尊。</a:t>
              </a:r>
            </a:p>
          </p:txBody>
        </p:sp>
      </p:grpSp>
      <p:grpSp>
        <p:nvGrpSpPr>
          <p:cNvPr id="29" name="footer"/>
          <p:cNvGrpSpPr/>
          <p:nvPr/>
        </p:nvGrpSpPr>
        <p:grpSpPr>
          <a:xfrm>
            <a:off x="602742" y="6191250"/>
            <a:ext cx="10979658" cy="413258"/>
            <a:chOff x="602742" y="6191250"/>
            <a:chExt cx="10979658" cy="413258"/>
          </a:xfrm>
        </p:grpSpPr>
        <p:sp>
          <p:nvSpPr>
            <p:cNvPr id="26" name="Line 26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02742" y="6340475"/>
              <a:ext cx="4975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出处：《北齐书》卷四·文宣帝纪｜识典古籍 shidianguji.com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899267" y="6340475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/ 12</a:t>
              </a:r>
            </a:p>
          </p:txBody>
        </p:sp>
      </p:grpSp>
      <p:pic>
        <p:nvPicPr>
          <p:cNvPr id="30" name="PPT Master narration: narration2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p14:dur="400" advClick="0" advTm="22427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8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8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6" fill="hold" display="0">
                  <p:stCondLst>
                    <p:cond delay="400"/>
                  </p:stCondLst>
                </p:cTn>
                <p:tgtEl>
                  <p:spTgt spid="30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90550" y="479425"/>
            <a:ext cx="10991850" cy="819150"/>
            <a:chOff x="590550" y="479425"/>
            <a:chExt cx="10991850" cy="819150"/>
          </a:xfrm>
        </p:grpSpPr>
        <p:sp>
          <p:nvSpPr>
            <p:cNvPr id="2" name="TextBox 2"/>
            <p:cNvSpPr txBox="1"/>
            <p:nvPr/>
          </p:nvSpPr>
          <p:spPr>
            <a:xfrm>
              <a:off x="590550" y="479425"/>
              <a:ext cx="798362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从550到577：事件大致时间线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609600" y="12192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5" name="timeline-550s"/>
          <p:cNvGrpSpPr/>
          <p:nvPr/>
        </p:nvGrpSpPr>
        <p:grpSpPr>
          <a:xfrm>
            <a:off x="762000" y="1695450"/>
            <a:ext cx="10668000" cy="914400"/>
            <a:chOff x="762000" y="1695450"/>
            <a:chExt cx="10668000" cy="914400"/>
          </a:xfrm>
        </p:grpSpPr>
        <p:sp>
          <p:nvSpPr>
            <p:cNvPr id="5" name="Rectangle 5"/>
            <p:cNvSpPr/>
            <p:nvPr/>
          </p:nvSpPr>
          <p:spPr>
            <a:xfrm>
              <a:off x="762000" y="1695450"/>
              <a:ext cx="10668000" cy="914400"/>
            </a:xfrm>
            <a:prstGeom prst="roundRect">
              <a:avLst>
                <a:gd name="adj" fmla="val 6250"/>
              </a:avLst>
            </a:prstGeom>
            <a:solidFill>
              <a:srgbClr val="FBF8F0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81456" y="187007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高洋时期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82980" y="2209800"/>
              <a:ext cx="7926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550—559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3352800" y="2066925"/>
              <a:ext cx="7620000" cy="9525"/>
            </a:xfrm>
            <a:custGeom>
              <a:avLst/>
              <a:gdLst/>
              <a:ahLst/>
              <a:cxnLst/>
              <a:rect l="l" t="t" r="r" b="b"/>
              <a:pathLst>
                <a:path w="7620000" h="9525">
                  <a:moveTo>
                    <a:pt x="0" y="0"/>
                  </a:moveTo>
                  <a:lnTo>
                    <a:pt x="76200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3638550" y="1990725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6781800" y="1990725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9848850" y="1990725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420618" y="2216150"/>
              <a:ext cx="111627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550 建北齐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278118" y="2216150"/>
              <a:ext cx="17604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天保年间 薛嫔案*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326118" y="2216150"/>
              <a:ext cx="133839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559 高德政案</a:t>
              </a:r>
            </a:p>
          </p:txBody>
        </p:sp>
      </p:grpSp>
      <p:grpSp>
        <p:nvGrpSpPr>
          <p:cNvPr id="23" name="timeline-560s"/>
          <p:cNvGrpSpPr/>
          <p:nvPr/>
        </p:nvGrpSpPr>
        <p:grpSpPr>
          <a:xfrm>
            <a:off x="762000" y="2733675"/>
            <a:ext cx="10668000" cy="838200"/>
            <a:chOff x="762000" y="2733675"/>
            <a:chExt cx="10668000" cy="838200"/>
          </a:xfrm>
        </p:grpSpPr>
        <p:sp>
          <p:nvSpPr>
            <p:cNvPr id="16" name="Rectangle 16"/>
            <p:cNvSpPr/>
            <p:nvPr/>
          </p:nvSpPr>
          <p:spPr>
            <a:xfrm>
              <a:off x="762000" y="2733675"/>
              <a:ext cx="10668000" cy="838200"/>
            </a:xfrm>
            <a:prstGeom prst="roundRect">
              <a:avLst>
                <a:gd name="adj" fmla="val 681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81456" y="292735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高湛时期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3352800" y="3086100"/>
              <a:ext cx="7620000" cy="9525"/>
            </a:xfrm>
            <a:custGeom>
              <a:avLst/>
              <a:gdLst/>
              <a:ahLst/>
              <a:cxnLst/>
              <a:rect l="l" t="t" r="r" b="b"/>
              <a:pathLst>
                <a:path w="7620000" h="9525">
                  <a:moveTo>
                    <a:pt x="0" y="0"/>
                  </a:moveTo>
                  <a:lnTo>
                    <a:pt x="76200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5162550" y="30099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8972550" y="30099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716018" y="3225800"/>
              <a:ext cx="111627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563 高孝瑜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526018" y="3225800"/>
              <a:ext cx="111627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566 高孝琬</a:t>
              </a:r>
            </a:p>
          </p:txBody>
        </p:sp>
      </p:grpSp>
      <p:grpSp>
        <p:nvGrpSpPr>
          <p:cNvPr id="33" name="timeline-570s"/>
          <p:cNvGrpSpPr/>
          <p:nvPr/>
        </p:nvGrpSpPr>
        <p:grpSpPr>
          <a:xfrm>
            <a:off x="762000" y="3695700"/>
            <a:ext cx="10668000" cy="838200"/>
            <a:chOff x="762000" y="3695700"/>
            <a:chExt cx="10668000" cy="838200"/>
          </a:xfrm>
        </p:grpSpPr>
        <p:sp>
          <p:nvSpPr>
            <p:cNvPr id="24" name="Rectangle 24"/>
            <p:cNvSpPr/>
            <p:nvPr/>
          </p:nvSpPr>
          <p:spPr>
            <a:xfrm>
              <a:off x="762000" y="3695700"/>
              <a:ext cx="10668000" cy="838200"/>
            </a:xfrm>
            <a:prstGeom prst="roundRect">
              <a:avLst>
                <a:gd name="adj" fmla="val 6818"/>
              </a:avLst>
            </a:prstGeom>
            <a:solidFill>
              <a:srgbClr val="FBF8F0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81456" y="388937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高纬时期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3352800" y="4048125"/>
              <a:ext cx="7620000" cy="9525"/>
            </a:xfrm>
            <a:custGeom>
              <a:avLst/>
              <a:gdLst/>
              <a:ahLst/>
              <a:cxnLst/>
              <a:rect l="l" t="t" r="r" b="b"/>
              <a:pathLst>
                <a:path w="7620000" h="9525">
                  <a:moveTo>
                    <a:pt x="0" y="0"/>
                  </a:moveTo>
                  <a:lnTo>
                    <a:pt x="76200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4400550" y="3971925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7067550" y="3971925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9848850" y="3971925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087368" y="4197350"/>
              <a:ext cx="89415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571 高俨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21018" y="4197350"/>
              <a:ext cx="111627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572 斛律光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383268" y="4197350"/>
              <a:ext cx="111627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573 高长恭</a:t>
              </a:r>
            </a:p>
          </p:txBody>
        </p:sp>
      </p:grpSp>
      <p:grpSp>
        <p:nvGrpSpPr>
          <p:cNvPr id="39" name="timeline-end"/>
          <p:cNvGrpSpPr/>
          <p:nvPr/>
        </p:nvGrpSpPr>
        <p:grpSpPr>
          <a:xfrm>
            <a:off x="762000" y="4657725"/>
            <a:ext cx="10668000" cy="762000"/>
            <a:chOff x="762000" y="4657725"/>
            <a:chExt cx="10668000" cy="762000"/>
          </a:xfrm>
        </p:grpSpPr>
        <p:sp>
          <p:nvSpPr>
            <p:cNvPr id="34" name="Rectangle 34"/>
            <p:cNvSpPr/>
            <p:nvPr/>
          </p:nvSpPr>
          <p:spPr>
            <a:xfrm>
              <a:off x="762000" y="4657725"/>
              <a:ext cx="10668000" cy="762000"/>
            </a:xfrm>
            <a:prstGeom prst="roundRect">
              <a:avLst>
                <a:gd name="adj" fmla="val 75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81456" y="4918075"/>
              <a:ext cx="148369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577 北齐灭亡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3352800" y="5048250"/>
              <a:ext cx="7620000" cy="9525"/>
            </a:xfrm>
            <a:custGeom>
              <a:avLst/>
              <a:gdLst/>
              <a:ahLst/>
              <a:cxnLst/>
              <a:rect l="l" t="t" r="r" b="b"/>
              <a:pathLst>
                <a:path w="7620000" h="9525">
                  <a:moveTo>
                    <a:pt x="0" y="0"/>
                  </a:moveTo>
                  <a:lnTo>
                    <a:pt x="76200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10506075" y="4962525"/>
              <a:ext cx="171450" cy="171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440168" y="4930775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北周进逼、出逃与被俘</a:t>
              </a:r>
            </a:p>
          </p:txBody>
        </p:sp>
      </p:grpSp>
      <p:grpSp>
        <p:nvGrpSpPr>
          <p:cNvPr id="41" name="timeline-note"/>
          <p:cNvGrpSpPr/>
          <p:nvPr/>
        </p:nvGrpSpPr>
        <p:grpSpPr>
          <a:xfrm>
            <a:off x="753618" y="5607050"/>
            <a:ext cx="8646243" cy="322707"/>
            <a:chOff x="753618" y="5607050"/>
            <a:chExt cx="8646243" cy="322707"/>
          </a:xfrm>
        </p:grpSpPr>
        <p:sp>
          <p:nvSpPr>
            <p:cNvPr id="40" name="TextBox 40"/>
            <p:cNvSpPr txBox="1"/>
            <p:nvPr/>
          </p:nvSpPr>
          <p:spPr>
            <a:xfrm>
              <a:off x="753618" y="5607050"/>
              <a:ext cx="86462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* 薛嫔案仅能定位于天保年间，具体年份未定；时间线按先后分段，节点间距不按比例。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602742" y="6191250"/>
            <a:ext cx="10979658" cy="413258"/>
            <a:chOff x="602742" y="6191250"/>
            <a:chExt cx="10979658" cy="413258"/>
          </a:xfrm>
        </p:grpSpPr>
        <p:sp>
          <p:nvSpPr>
            <p:cNvPr id="42" name="Line 42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02742" y="6340475"/>
              <a:ext cx="39652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对应原典篇章见P12；人物与责任按各案分别标注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899267" y="6340475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 / 12</a:t>
              </a:r>
            </a:p>
          </p:txBody>
        </p:sp>
      </p:grpSp>
      <p:pic>
        <p:nvPicPr>
          <p:cNvPr id="46" name="PPT Master narration: narration3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p14:dur="400" advClick="0" advTm="24996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8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6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84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8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62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8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4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8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28" fill="hold" display="0">
                  <p:stCondLst>
                    <p:cond delay="400"/>
                  </p:stCondLst>
                </p:cTn>
                <p:tgtEl>
                  <p:spTgt spid="4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90550" y="454025"/>
            <a:ext cx="10991850" cy="819150"/>
            <a:chOff x="590550" y="454025"/>
            <a:chExt cx="10991850" cy="819150"/>
          </a:xfrm>
        </p:grpSpPr>
        <p:sp>
          <p:nvSpPr>
            <p:cNvPr id="2" name="TextBox 2"/>
            <p:cNvSpPr txBox="1"/>
            <p:nvPr/>
          </p:nvSpPr>
          <p:spPr>
            <a:xfrm>
              <a:off x="590550" y="454025"/>
              <a:ext cx="6012180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每起事件拆成四个问题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609600" y="12192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31" name="responsibility-chain"/>
          <p:cNvGrpSpPr/>
          <p:nvPr/>
        </p:nvGrpSpPr>
        <p:grpSpPr>
          <a:xfrm>
            <a:off x="685800" y="2038350"/>
            <a:ext cx="10629900" cy="1809750"/>
            <a:chOff x="685800" y="2038350"/>
            <a:chExt cx="10629900" cy="1809750"/>
          </a:xfrm>
        </p:grpSpPr>
        <p:sp>
          <p:nvSpPr>
            <p:cNvPr id="5" name="Line 5"/>
            <p:cNvSpPr/>
            <p:nvPr/>
          </p:nvSpPr>
          <p:spPr>
            <a:xfrm>
              <a:off x="1581150" y="2914650"/>
              <a:ext cx="9029700" cy="9525"/>
            </a:xfrm>
            <a:custGeom>
              <a:avLst/>
              <a:gdLst/>
              <a:ahLst/>
              <a:cxnLst/>
              <a:rect l="l" t="t" r="r" b="b"/>
              <a:pathLst>
                <a:path w="9029700" h="9525">
                  <a:moveTo>
                    <a:pt x="0" y="0"/>
                  </a:moveTo>
                  <a:lnTo>
                    <a:pt x="9029700" y="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85800" y="2038350"/>
              <a:ext cx="1866900" cy="1809750"/>
            </a:xfrm>
            <a:prstGeom prst="roundRect">
              <a:avLst>
                <a:gd name="adj" fmla="val 3158"/>
              </a:avLst>
            </a:prstGeom>
            <a:solidFill>
              <a:srgbClr val="FBF8F0"/>
            </a:solidFill>
            <a:ln w="14288">
              <a:solidFill>
                <a:schemeClr val="accent6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2876550" y="2038350"/>
              <a:ext cx="1866900" cy="1809750"/>
            </a:xfrm>
            <a:prstGeom prst="roundRect">
              <a:avLst>
                <a:gd name="adj" fmla="val 3158"/>
              </a:avLst>
            </a:prstGeom>
            <a:solidFill>
              <a:srgbClr val="FBF8F0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067300" y="2038350"/>
              <a:ext cx="1866900" cy="1809750"/>
            </a:xfrm>
            <a:prstGeom prst="roundRect">
              <a:avLst>
                <a:gd name="adj" fmla="val 3158"/>
              </a:avLst>
            </a:prstGeom>
            <a:solidFill>
              <a:srgbClr val="FBF8F0"/>
            </a:solidFill>
            <a:ln w="19050">
              <a:solidFill>
                <a:schemeClr val="accent2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7258050" y="2038350"/>
              <a:ext cx="1866900" cy="1809750"/>
            </a:xfrm>
            <a:prstGeom prst="roundRect">
              <a:avLst>
                <a:gd name="adj" fmla="val 3158"/>
              </a:avLst>
            </a:prstGeom>
            <a:solidFill>
              <a:srgbClr val="FBF8F0"/>
            </a:solidFill>
            <a:ln w="14288">
              <a:solidFill>
                <a:schemeClr val="accent6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9448800" y="2038350"/>
              <a:ext cx="1866900" cy="1809750"/>
            </a:xfrm>
            <a:prstGeom prst="roundRect">
              <a:avLst>
                <a:gd name="adj" fmla="val 3158"/>
              </a:avLst>
            </a:prstGeom>
            <a:solidFill>
              <a:schemeClr val="lt2"/>
            </a:solidFill>
            <a:ln w="14288">
              <a:solidFill>
                <a:schemeClr val="accent6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1390650" y="2381250"/>
              <a:ext cx="457200" cy="457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3581400" y="2381250"/>
              <a:ext cx="457200" cy="457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5772150" y="238125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7962900" y="2381250"/>
              <a:ext cx="457200" cy="457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10153650" y="238125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534668" y="2482850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BF8F0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725418" y="2482850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BF8F0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916168" y="2482850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BF8F0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106918" y="2482850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BF8F0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297668" y="2482850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BF8F0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48131" y="306070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谁受害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096006" y="306070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何种冲突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286756" y="306070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谁决策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477506" y="306070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谁执行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658731" y="306070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记载边界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92505" y="346075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对象与身份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116580" y="346075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背景与指控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374005" y="346075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命令从何而来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74280" y="346075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直接行动者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612630" y="346075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史书写了什么</a:t>
              </a:r>
            </a:p>
          </p:txBody>
        </p:sp>
      </p:grpSp>
      <p:grpSp>
        <p:nvGrpSpPr>
          <p:cNvPr id="34" name="method-takeaway"/>
          <p:cNvGrpSpPr/>
          <p:nvPr/>
        </p:nvGrpSpPr>
        <p:grpSpPr>
          <a:xfrm>
            <a:off x="914400" y="4914900"/>
            <a:ext cx="10363200" cy="685800"/>
            <a:chOff x="914400" y="4914900"/>
            <a:chExt cx="10363200" cy="685800"/>
          </a:xfrm>
        </p:grpSpPr>
        <p:sp>
          <p:nvSpPr>
            <p:cNvPr id="32" name="Rectangle 32"/>
            <p:cNvSpPr/>
            <p:nvPr/>
          </p:nvSpPr>
          <p:spPr>
            <a:xfrm>
              <a:off x="914400" y="4914900"/>
              <a:ext cx="10363200" cy="685800"/>
            </a:xfrm>
            <a:prstGeom prst="roundRect">
              <a:avLst>
                <a:gd name="adj" fmla="val 8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171956" y="5108575"/>
              <a:ext cx="58338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责任、经过和原因分开核对，才不会把推测当成事实。</a:t>
              </a:r>
            </a:p>
          </p:txBody>
        </p:sp>
      </p:grpSp>
      <p:grpSp>
        <p:nvGrpSpPr>
          <p:cNvPr id="38" name="footer"/>
          <p:cNvGrpSpPr/>
          <p:nvPr/>
        </p:nvGrpSpPr>
        <p:grpSpPr>
          <a:xfrm>
            <a:off x="602742" y="6191250"/>
            <a:ext cx="10979658" cy="413258"/>
            <a:chOff x="602742" y="6191250"/>
            <a:chExt cx="10979658" cy="413258"/>
          </a:xfrm>
        </p:grpSpPr>
        <p:sp>
          <p:nvSpPr>
            <p:cNvPr id="35" name="Line 35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02742" y="6340475"/>
              <a:ext cx="45228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读法为本片整理；案例篇章见P05—P09，原典索引见P12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899267" y="6340475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 / 12</a:t>
              </a:r>
            </a:p>
          </p:txBody>
        </p:sp>
      </p:grpSp>
      <p:pic>
        <p:nvPicPr>
          <p:cNvPr id="39" name="PPT Master narration: narration4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p14:dur="400" advClick="0" advTm="23987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8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8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6" fill="hold" display="0">
                  <p:stCondLst>
                    <p:cond delay="400"/>
                  </p:stCondLst>
                </p:cTn>
                <p:tgtEl>
                  <p:spTgt spid="39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90550" y="479425"/>
            <a:ext cx="10991850" cy="819150"/>
            <a:chOff x="590550" y="479425"/>
            <a:chExt cx="10991850" cy="819150"/>
          </a:xfrm>
        </p:grpSpPr>
        <p:sp>
          <p:nvSpPr>
            <p:cNvPr id="2" name="TextBox 2"/>
            <p:cNvSpPr txBox="1"/>
            <p:nvPr/>
          </p:nvSpPr>
          <p:spPr>
            <a:xfrm>
              <a:off x="590550" y="479425"/>
              <a:ext cx="9984943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559年：高德政案，劝谏如何变成冲突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609600" y="12192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22" name="dezheng-sequence"/>
          <p:cNvGrpSpPr/>
          <p:nvPr/>
        </p:nvGrpSpPr>
        <p:grpSpPr>
          <a:xfrm>
            <a:off x="829056" y="1749425"/>
            <a:ext cx="10524744" cy="3092069"/>
            <a:chOff x="829056" y="1749425"/>
            <a:chExt cx="10524744" cy="3092069"/>
          </a:xfrm>
        </p:grpSpPr>
        <p:sp>
          <p:nvSpPr>
            <p:cNvPr id="5" name="TextBox 5"/>
            <p:cNvSpPr txBox="1"/>
            <p:nvPr/>
          </p:nvSpPr>
          <p:spPr>
            <a:xfrm>
              <a:off x="829818" y="1749425"/>
              <a:ext cx="217741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spc="1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史书记述的事件顺序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1809750" y="2609850"/>
              <a:ext cx="8524875" cy="9525"/>
            </a:xfrm>
            <a:custGeom>
              <a:avLst/>
              <a:gdLst/>
              <a:ahLst/>
              <a:cxnLst/>
              <a:rect l="l" t="t" r="r" b="b"/>
              <a:pathLst>
                <a:path w="8524875" h="9525">
                  <a:moveTo>
                    <a:pt x="0" y="0"/>
                  </a:moveTo>
                  <a:lnTo>
                    <a:pt x="8524875" y="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1676400" y="2476500"/>
              <a:ext cx="266700" cy="266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4514850" y="2476500"/>
              <a:ext cx="266700" cy="266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7353300" y="2476500"/>
              <a:ext cx="266700" cy="266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10191750" y="2476500"/>
              <a:ext cx="266700" cy="266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105281" y="292735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参与禅代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886581" y="292735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屡次劝谏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33744" y="2901950"/>
              <a:ext cx="21198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刺伤、伤足、拘禁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382506" y="292735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最终遇害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06043" y="3359150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高德政曾帮助高洋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849243" y="3359150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君臣冲突加深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35268" y="3359150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不同阶段的伤害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383268" y="3359150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妻、子也被杀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38200" y="4019550"/>
              <a:ext cx="10515600" cy="9525"/>
            </a:xfrm>
            <a:custGeom>
              <a:avLst/>
              <a:gdLst/>
              <a:ahLst/>
              <a:cxnLst/>
              <a:rect l="l" t="t" r="r" b="b"/>
              <a:pathLst>
                <a:path w="10515600" h="9525">
                  <a:moveTo>
                    <a:pt x="0" y="0"/>
                  </a:moveTo>
                  <a:lnTo>
                    <a:pt x="10515600" y="0"/>
                  </a:lnTo>
                </a:path>
              </a:pathLst>
            </a:custGeom>
            <a:noFill/>
            <a:ln w="9525">
              <a:solidFill>
                <a:srgbClr val="D7CEBD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29056" y="4146550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受害者：高德政及其妻、子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29056" y="4489450"/>
              <a:ext cx="51069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史书分阶段记载；末端执行细节不作确定复原。</a:t>
              </a:r>
            </a:p>
          </p:txBody>
        </p:sp>
      </p:grpSp>
      <p:grpSp>
        <p:nvGrpSpPr>
          <p:cNvPr id="25" name="interpretation-note"/>
          <p:cNvGrpSpPr/>
          <p:nvPr/>
        </p:nvGrpSpPr>
        <p:grpSpPr>
          <a:xfrm>
            <a:off x="914400" y="5029200"/>
            <a:ext cx="10363200" cy="590550"/>
            <a:chOff x="914400" y="5029200"/>
            <a:chExt cx="10363200" cy="590550"/>
          </a:xfrm>
        </p:grpSpPr>
        <p:sp>
          <p:nvSpPr>
            <p:cNvPr id="23" name="Rectangle 23"/>
            <p:cNvSpPr/>
            <p:nvPr/>
          </p:nvSpPr>
          <p:spPr>
            <a:xfrm>
              <a:off x="914400" y="5029200"/>
              <a:ext cx="10363200" cy="590550"/>
            </a:xfrm>
            <a:prstGeom prst="roundRect">
              <a:avLst>
                <a:gd name="adj" fmla="val 967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132332" y="5156200"/>
              <a:ext cx="652348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劝谏与君臣关系是线索，但不能单独证明全部动机。</a:t>
              </a:r>
            </a:p>
          </p:txBody>
        </p:sp>
      </p:grpSp>
      <p:grpSp>
        <p:nvGrpSpPr>
          <p:cNvPr id="29" name="footer"/>
          <p:cNvGrpSpPr/>
          <p:nvPr/>
        </p:nvGrpSpPr>
        <p:grpSpPr>
          <a:xfrm>
            <a:off x="602742" y="6191250"/>
            <a:ext cx="10979658" cy="413258"/>
            <a:chOff x="602742" y="6191250"/>
            <a:chExt cx="10979658" cy="413258"/>
          </a:xfrm>
        </p:grpSpPr>
        <p:sp>
          <p:nvSpPr>
            <p:cNvPr id="26" name="Line 26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02742" y="6340475"/>
              <a:ext cx="51568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出处：《北齐书》卷三十·高德政传｜识典古籍 shidianguji.com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899267" y="6340475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 / 12</a:t>
              </a:r>
            </a:p>
          </p:txBody>
        </p:sp>
      </p:grpSp>
      <p:pic>
        <p:nvPicPr>
          <p:cNvPr id="30" name="PPT Master narration: narration5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p14:dur="400" advClick="0" advTm="25644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8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8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6" fill="hold" display="0">
                  <p:stCondLst>
                    <p:cond delay="400"/>
                  </p:stCondLst>
                </p:cTn>
                <p:tgtEl>
                  <p:spTgt spid="30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90550" y="479425"/>
            <a:ext cx="10991850" cy="819150"/>
            <a:chOff x="590550" y="479425"/>
            <a:chExt cx="10991850" cy="819150"/>
          </a:xfrm>
        </p:grpSpPr>
        <p:sp>
          <p:nvSpPr>
            <p:cNvPr id="2" name="TextBox 2"/>
            <p:cNvSpPr txBox="1"/>
            <p:nvPr/>
          </p:nvSpPr>
          <p:spPr>
            <a:xfrm>
              <a:off x="590550" y="479425"/>
              <a:ext cx="10373258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563与566年：高湛时期的两起宗室死亡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609600" y="12192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5" name="xiaoyu-case"/>
          <p:cNvGrpSpPr/>
          <p:nvPr/>
        </p:nvGrpSpPr>
        <p:grpSpPr>
          <a:xfrm>
            <a:off x="685800" y="1752600"/>
            <a:ext cx="5105400" cy="3714750"/>
            <a:chOff x="685800" y="1752600"/>
            <a:chExt cx="5105400" cy="3714750"/>
          </a:xfrm>
        </p:grpSpPr>
        <p:sp>
          <p:nvSpPr>
            <p:cNvPr id="5" name="Rectangle 5"/>
            <p:cNvSpPr/>
            <p:nvPr/>
          </p:nvSpPr>
          <p:spPr>
            <a:xfrm>
              <a:off x="685800" y="1752600"/>
              <a:ext cx="5105400" cy="3714750"/>
            </a:xfrm>
            <a:prstGeom prst="roundRect">
              <a:avLst>
                <a:gd name="adj" fmla="val 1538"/>
              </a:avLst>
            </a:prstGeom>
            <a:solidFill>
              <a:srgbClr val="FBF8F0"/>
            </a:solidFill>
            <a:ln w="14288">
              <a:solidFill>
                <a:schemeClr val="accent6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76884" y="1917700"/>
              <a:ext cx="65715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563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853184" y="1892300"/>
              <a:ext cx="117957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高孝瑜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80694" y="2559050"/>
              <a:ext cx="185737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史书记载的过程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81456" y="3022600"/>
              <a:ext cx="251414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强制饮酒 → 押送 → 死亡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990600" y="3486150"/>
              <a:ext cx="4476750" cy="9525"/>
            </a:xfrm>
            <a:custGeom>
              <a:avLst/>
              <a:gdLst/>
              <a:ahLst/>
              <a:cxnLst/>
              <a:rect l="l" t="t" r="r" b="b"/>
              <a:pathLst>
                <a:path w="4476750" h="9525">
                  <a:moveTo>
                    <a:pt x="0" y="0"/>
                  </a:moveTo>
                  <a:lnTo>
                    <a:pt x="4476750" y="0"/>
                  </a:lnTo>
                </a:path>
              </a:pathLst>
            </a:custGeom>
            <a:noFill/>
            <a:ln w="9525">
              <a:solidFill>
                <a:srgbClr val="D7CEBD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81456" y="3698875"/>
              <a:ext cx="24656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关键字有“槛／鸩”差异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82218" y="4083050"/>
              <a:ext cx="35707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《北齐书》与《资治通鉴》用字不同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990600" y="4591050"/>
              <a:ext cx="4476750" cy="590550"/>
            </a:xfrm>
            <a:prstGeom prst="roundRect">
              <a:avLst>
                <a:gd name="adj" fmla="val 806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53287" y="4746625"/>
              <a:ext cx="3953815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本片只说强制行为后死亡，不定死法。</a:t>
              </a:r>
            </a:p>
          </p:txBody>
        </p:sp>
      </p:grpSp>
      <p:grpSp>
        <p:nvGrpSpPr>
          <p:cNvPr id="26" name="xiaowan-case"/>
          <p:cNvGrpSpPr/>
          <p:nvPr/>
        </p:nvGrpSpPr>
        <p:grpSpPr>
          <a:xfrm>
            <a:off x="6400800" y="1752600"/>
            <a:ext cx="5105400" cy="3714750"/>
            <a:chOff x="6400800" y="1752600"/>
            <a:chExt cx="5105400" cy="3714750"/>
          </a:xfrm>
        </p:grpSpPr>
        <p:sp>
          <p:nvSpPr>
            <p:cNvPr id="16" name="Rectangle 16"/>
            <p:cNvSpPr/>
            <p:nvPr/>
          </p:nvSpPr>
          <p:spPr>
            <a:xfrm>
              <a:off x="6400800" y="1752600"/>
              <a:ext cx="5105400" cy="3714750"/>
            </a:xfrm>
            <a:prstGeom prst="roundRect">
              <a:avLst>
                <a:gd name="adj" fmla="val 1538"/>
              </a:avLst>
            </a:prstGeom>
            <a:solidFill>
              <a:srgbClr val="FBF8F0"/>
            </a:solidFill>
            <a:ln w="14288">
              <a:solidFill>
                <a:schemeClr val="accent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691884" y="1917700"/>
              <a:ext cx="65715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566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68184" y="1892300"/>
              <a:ext cx="117957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高孝琬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695694" y="2559050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责任人物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696456" y="302260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太上皇高湛处置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6705600" y="3486150"/>
              <a:ext cx="4476750" cy="9525"/>
            </a:xfrm>
            <a:custGeom>
              <a:avLst/>
              <a:gdLst/>
              <a:ahLst/>
              <a:cxnLst/>
              <a:rect l="l" t="t" r="r" b="b"/>
              <a:pathLst>
                <a:path w="4476750" h="9525">
                  <a:moveTo>
                    <a:pt x="0" y="0"/>
                  </a:moveTo>
                  <a:lnTo>
                    <a:pt x="4476750" y="0"/>
                  </a:lnTo>
                </a:path>
              </a:pathLst>
            </a:custGeom>
            <a:noFill/>
            <a:ln w="9525">
              <a:solidFill>
                <a:srgbClr val="D7CEBD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696456" y="3698875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史载折其双胫，伤重而死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697218" y="4083050"/>
              <a:ext cx="33486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此时高纬在位，不等于高纬下令。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705600" y="4591050"/>
              <a:ext cx="4476750" cy="590550"/>
            </a:xfrm>
            <a:prstGeom prst="roundRect">
              <a:avLst>
                <a:gd name="adj" fmla="val 806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868287" y="4746625"/>
              <a:ext cx="302762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责任不能只按在位年份推定。</a:t>
              </a:r>
            </a:p>
          </p:txBody>
        </p:sp>
      </p:grpSp>
      <p:grpSp>
        <p:nvGrpSpPr>
          <p:cNvPr id="30" name="footer"/>
          <p:cNvGrpSpPr/>
          <p:nvPr/>
        </p:nvGrpSpPr>
        <p:grpSpPr>
          <a:xfrm>
            <a:off x="602742" y="6191250"/>
            <a:ext cx="10979658" cy="413258"/>
            <a:chOff x="602742" y="6191250"/>
            <a:chExt cx="10979658" cy="413258"/>
          </a:xfrm>
        </p:grpSpPr>
        <p:sp>
          <p:nvSpPr>
            <p:cNvPr id="27" name="Line 27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02742" y="6340475"/>
              <a:ext cx="60473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出处：《北齐书》卷十一·孝瑜传、孝琬传；《资治通鉴》卷169｜识典古籍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899267" y="6340475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 / 12</a:t>
              </a:r>
            </a:p>
          </p:txBody>
        </p:sp>
      </p:grpSp>
      <p:pic>
        <p:nvPicPr>
          <p:cNvPr id="31" name="PPT Master narration: narration6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p14:dur="400" advClick="0" advTm="29988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8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6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8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6" fill="hold" display="0">
                  <p:stCondLst>
                    <p:cond delay="400"/>
                  </p:stCondLst>
                </p:cTn>
                <p:tgtEl>
                  <p:spTgt spid="31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90550" y="479425"/>
            <a:ext cx="10991850" cy="819150"/>
            <a:chOff x="590550" y="479425"/>
            <a:chExt cx="10991850" cy="819150"/>
          </a:xfrm>
        </p:grpSpPr>
        <p:sp>
          <p:nvSpPr>
            <p:cNvPr id="2" name="TextBox 2"/>
            <p:cNvSpPr txBox="1"/>
            <p:nvPr/>
          </p:nvSpPr>
          <p:spPr>
            <a:xfrm>
              <a:off x="590550" y="479425"/>
              <a:ext cx="7595311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571年：高俨被杀与政治辩护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609600" y="12192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6" name="yan-decision-chain"/>
          <p:cNvGrpSpPr/>
          <p:nvPr/>
        </p:nvGrpSpPr>
        <p:grpSpPr>
          <a:xfrm>
            <a:off x="781050" y="1720850"/>
            <a:ext cx="10534650" cy="1574800"/>
            <a:chOff x="781050" y="1720850"/>
            <a:chExt cx="10534650" cy="1574800"/>
          </a:xfrm>
        </p:grpSpPr>
        <p:sp>
          <p:nvSpPr>
            <p:cNvPr id="5" name="TextBox 5"/>
            <p:cNvSpPr txBox="1"/>
            <p:nvPr/>
          </p:nvSpPr>
          <p:spPr>
            <a:xfrm>
              <a:off x="829818" y="1720850"/>
              <a:ext cx="217741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spc="1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事件中的行动与责任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2619375" y="2609850"/>
              <a:ext cx="6943725" cy="9525"/>
            </a:xfrm>
            <a:custGeom>
              <a:avLst/>
              <a:gdLst/>
              <a:ahLst/>
              <a:cxnLst/>
              <a:rect l="l" t="t" r="r" b="b"/>
              <a:pathLst>
                <a:path w="6943725" h="9525">
                  <a:moveTo>
                    <a:pt x="0" y="0"/>
                  </a:moveTo>
                  <a:lnTo>
                    <a:pt x="6943725" y="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781050" y="2114550"/>
              <a:ext cx="3143250" cy="1181100"/>
            </a:xfrm>
            <a:prstGeom prst="roundRect">
              <a:avLst>
                <a:gd name="adj" fmla="val 4839"/>
              </a:avLst>
            </a:prstGeom>
            <a:solidFill>
              <a:srgbClr val="FBF8F0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4524375" y="2114550"/>
              <a:ext cx="2667000" cy="1181100"/>
            </a:xfrm>
            <a:prstGeom prst="roundRect">
              <a:avLst>
                <a:gd name="adj" fmla="val 4839"/>
              </a:avLst>
            </a:prstGeom>
            <a:solidFill>
              <a:srgbClr val="FBF8F0"/>
            </a:solidFill>
            <a:ln w="19050">
              <a:solidFill>
                <a:schemeClr val="accent2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7791450" y="2114550"/>
              <a:ext cx="3524250" cy="1181100"/>
            </a:xfrm>
            <a:prstGeom prst="roundRect">
              <a:avLst>
                <a:gd name="adj" fmla="val 4839"/>
              </a:avLst>
            </a:prstGeom>
            <a:solidFill>
              <a:srgbClr val="FBF8F0"/>
            </a:solidFill>
            <a:ln w="14288">
              <a:solidFill>
                <a:schemeClr val="accent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56894" y="2292350"/>
              <a:ext cx="133235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高俨的行动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58418" y="2740025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杀和士开、调动京畿军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866894" y="2292350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高纬下令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868418" y="2740025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对弟弟作出杀害决定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105394" y="2292350"/>
              <a:ext cx="159486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刘桃枝等执行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106918" y="2740025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史书记载的直接行动者</a:t>
              </a:r>
            </a:p>
          </p:txBody>
        </p:sp>
      </p:grpSp>
      <p:grpSp>
        <p:nvGrpSpPr>
          <p:cNvPr id="21" name="zu-ting-quote"/>
          <p:cNvGrpSpPr/>
          <p:nvPr/>
        </p:nvGrpSpPr>
        <p:grpSpPr>
          <a:xfrm>
            <a:off x="914400" y="3733800"/>
            <a:ext cx="10363200" cy="1219200"/>
            <a:chOff x="914400" y="3733800"/>
            <a:chExt cx="10363200" cy="1219200"/>
          </a:xfrm>
        </p:grpSpPr>
        <p:sp>
          <p:nvSpPr>
            <p:cNvPr id="17" name="Rectangle 17"/>
            <p:cNvSpPr/>
            <p:nvPr/>
          </p:nvSpPr>
          <p:spPr>
            <a:xfrm>
              <a:off x="914400" y="3733800"/>
              <a:ext cx="10363200" cy="1219200"/>
            </a:xfrm>
            <a:prstGeom prst="roundRect">
              <a:avLst>
                <a:gd name="adj" fmla="val 468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172718" y="3921125"/>
              <a:ext cx="217741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spc="1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祖珽援引的历史先例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68908" y="4248150"/>
              <a:ext cx="415503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“周公诛管叔，季友鸩庆父”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135368" y="4349750"/>
              <a:ext cx="35707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政治辩护语言，不是单独的因果证明</a:t>
              </a:r>
            </a:p>
          </p:txBody>
        </p:sp>
      </p:grpSp>
      <p:grpSp>
        <p:nvGrpSpPr>
          <p:cNvPr id="23" name="yan-takeaway"/>
          <p:cNvGrpSpPr/>
          <p:nvPr/>
        </p:nvGrpSpPr>
        <p:grpSpPr>
          <a:xfrm>
            <a:off x="903732" y="5270500"/>
            <a:ext cx="7371588" cy="410718"/>
            <a:chOff x="903732" y="5270500"/>
            <a:chExt cx="7371588" cy="410718"/>
          </a:xfrm>
        </p:grpSpPr>
        <p:sp>
          <p:nvSpPr>
            <p:cNvPr id="22" name="TextBox 22"/>
            <p:cNvSpPr txBox="1"/>
            <p:nvPr/>
          </p:nvSpPr>
          <p:spPr>
            <a:xfrm>
              <a:off x="903732" y="5270500"/>
              <a:ext cx="737158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兵权与皇权冲突是背景；典故说明决策者怎样为行动辩护。</a:t>
              </a:r>
            </a:p>
          </p:txBody>
        </p:sp>
      </p:grpSp>
      <p:grpSp>
        <p:nvGrpSpPr>
          <p:cNvPr id="27" name="footer"/>
          <p:cNvGrpSpPr/>
          <p:nvPr/>
        </p:nvGrpSpPr>
        <p:grpSpPr>
          <a:xfrm>
            <a:off x="602742" y="6191250"/>
            <a:ext cx="10979658" cy="413258"/>
            <a:chOff x="602742" y="6191250"/>
            <a:chExt cx="10979658" cy="413258"/>
          </a:xfrm>
        </p:grpSpPr>
        <p:sp>
          <p:nvSpPr>
            <p:cNvPr id="24" name="Line 24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02742" y="6340475"/>
              <a:ext cx="56839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出处：《北齐书》卷十二·琅邪王俨传；《资治通鉴》卷170｜识典古籍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899267" y="6340475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 / 12</a:t>
              </a:r>
            </a:p>
          </p:txBody>
        </p:sp>
      </p:grpSp>
      <p:pic>
        <p:nvPicPr>
          <p:cNvPr id="28" name="PPT Master narration: narration7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p14:dur="400" advClick="0" advTm="27948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8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88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20" fill="hold" display="0">
                  <p:stCondLst>
                    <p:cond delay="400"/>
                  </p:stCondLst>
                </p:cTn>
                <p:tgtEl>
                  <p:spTgt spid="28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90550" y="479425"/>
            <a:ext cx="10991850" cy="819150"/>
            <a:chOff x="590550" y="479425"/>
            <a:chExt cx="10991850" cy="819150"/>
          </a:xfrm>
        </p:grpSpPr>
        <p:sp>
          <p:nvSpPr>
            <p:cNvPr id="2" name="TextBox 2"/>
            <p:cNvSpPr txBox="1"/>
            <p:nvPr/>
          </p:nvSpPr>
          <p:spPr>
            <a:xfrm>
              <a:off x="590550" y="479425"/>
              <a:ext cx="6997903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572年：斛律光案的决策链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609600" y="12192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25" name="huluguang-chain"/>
          <p:cNvGrpSpPr/>
          <p:nvPr/>
        </p:nvGrpSpPr>
        <p:grpSpPr>
          <a:xfrm>
            <a:off x="685800" y="1962150"/>
            <a:ext cx="10782300" cy="2445576"/>
            <a:chOff x="685800" y="1962150"/>
            <a:chExt cx="10782300" cy="2445576"/>
          </a:xfrm>
        </p:grpSpPr>
        <p:sp>
          <p:nvSpPr>
            <p:cNvPr id="5" name="Line 5"/>
            <p:cNvSpPr/>
            <p:nvPr/>
          </p:nvSpPr>
          <p:spPr>
            <a:xfrm>
              <a:off x="1847850" y="2857500"/>
              <a:ext cx="8505825" cy="9525"/>
            </a:xfrm>
            <a:custGeom>
              <a:avLst/>
              <a:gdLst/>
              <a:ahLst/>
              <a:cxnLst/>
              <a:rect l="l" t="t" r="r" b="b"/>
              <a:pathLst>
                <a:path w="8505825" h="9525">
                  <a:moveTo>
                    <a:pt x="0" y="0"/>
                  </a:moveTo>
                  <a:lnTo>
                    <a:pt x="8505825" y="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85800" y="1962150"/>
              <a:ext cx="2266950" cy="1809750"/>
            </a:xfrm>
            <a:prstGeom prst="roundRect">
              <a:avLst>
                <a:gd name="adj" fmla="val 3158"/>
              </a:avLst>
            </a:prstGeom>
            <a:solidFill>
              <a:srgbClr val="FBF8F0"/>
            </a:solidFill>
            <a:ln w="14288">
              <a:solidFill>
                <a:schemeClr val="accent6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3524250" y="1962150"/>
              <a:ext cx="2266950" cy="1809750"/>
            </a:xfrm>
            <a:prstGeom prst="roundRect">
              <a:avLst>
                <a:gd name="adj" fmla="val 3158"/>
              </a:avLst>
            </a:prstGeom>
            <a:solidFill>
              <a:srgbClr val="FBF8F0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362700" y="1962150"/>
              <a:ext cx="2266950" cy="1809750"/>
            </a:xfrm>
            <a:prstGeom prst="roundRect">
              <a:avLst>
                <a:gd name="adj" fmla="val 3158"/>
              </a:avLst>
            </a:prstGeom>
            <a:solidFill>
              <a:srgbClr val="FBF8F0"/>
            </a:solidFill>
            <a:ln w="19050">
              <a:solidFill>
                <a:schemeClr val="accent2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9201150" y="1962150"/>
              <a:ext cx="2266950" cy="1809750"/>
            </a:xfrm>
            <a:prstGeom prst="roundRect">
              <a:avLst>
                <a:gd name="adj" fmla="val 3158"/>
              </a:avLst>
            </a:prstGeom>
            <a:solidFill>
              <a:srgbClr val="FBF8F0"/>
            </a:solidFill>
            <a:ln w="14288">
              <a:solidFill>
                <a:schemeClr val="accent6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1714500" y="2752725"/>
              <a:ext cx="209550" cy="2095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4552950" y="2752725"/>
              <a:ext cx="209550" cy="2095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7391400" y="2752725"/>
              <a:ext cx="209550" cy="2095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10229850" y="2752725"/>
              <a:ext cx="209550" cy="2095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2594" y="2159000"/>
              <a:ext cx="80733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斛律光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4118" y="305435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掌兵重臣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781044" y="2159000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信息背景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782949" y="2609850"/>
              <a:ext cx="1504899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韦孝宽相关谣言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782949" y="2962275"/>
              <a:ext cx="8668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朝中竞争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783711" y="3298825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均见于史书叙述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619494" y="2159000"/>
              <a:ext cx="54483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高纬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621018" y="3054350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召见并作出决策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7944" y="2159000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刘桃枝等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59468" y="3054350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史载直接执行者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3237" y="4070350"/>
              <a:ext cx="7496475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信息背景 → 君主决策 → 直接执行；箭头不表示已证实全部幕后传递关系。</a:t>
              </a:r>
            </a:p>
          </p:txBody>
        </p:sp>
      </p:grpSp>
      <p:grpSp>
        <p:nvGrpSpPr>
          <p:cNvPr id="29" name="huluguang-caveat"/>
          <p:cNvGrpSpPr/>
          <p:nvPr/>
        </p:nvGrpSpPr>
        <p:grpSpPr>
          <a:xfrm>
            <a:off x="914400" y="4895850"/>
            <a:ext cx="10363200" cy="710057"/>
            <a:chOff x="914400" y="4895850"/>
            <a:chExt cx="10363200" cy="710057"/>
          </a:xfrm>
        </p:grpSpPr>
        <p:sp>
          <p:nvSpPr>
            <p:cNvPr id="26" name="Rectangle 26"/>
            <p:cNvSpPr/>
            <p:nvPr/>
          </p:nvSpPr>
          <p:spPr>
            <a:xfrm>
              <a:off x="914400" y="4895850"/>
              <a:ext cx="10363200" cy="685800"/>
            </a:xfrm>
            <a:prstGeom prst="roundRect">
              <a:avLst>
                <a:gd name="adj" fmla="val 8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133856" y="4975225"/>
              <a:ext cx="48646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六月／七月记载有差异；传递环节仍需核查。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34618" y="5283200"/>
              <a:ext cx="49034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本图按史料整理，不把竞争者画成确定的下令者。</a:t>
              </a: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602742" y="6191250"/>
            <a:ext cx="10979658" cy="413258"/>
            <a:chOff x="602742" y="6191250"/>
            <a:chExt cx="10979658" cy="413258"/>
          </a:xfrm>
        </p:grpSpPr>
        <p:sp>
          <p:nvSpPr>
            <p:cNvPr id="30" name="Line 30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02742" y="6340475"/>
              <a:ext cx="55021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出处：《北齐书》卷十七·斛律光传；《资治通鉴》卷171｜识典古籍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899267" y="6340475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 / 12</a:t>
              </a:r>
            </a:p>
          </p:txBody>
        </p:sp>
      </p:grpSp>
      <p:pic>
        <p:nvPicPr>
          <p:cNvPr id="34" name="PPT Master narration: narration8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p14:dur="400" advClick="0" advTm="30564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8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8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6" fill="hold" display="0">
                  <p:stCondLst>
                    <p:cond delay="400"/>
                  </p:stCondLst>
                </p:cTn>
                <p:tgtEl>
                  <p:spTgt spid="34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90550" y="454025"/>
            <a:ext cx="10991850" cy="819150"/>
            <a:chOff x="590550" y="454025"/>
            <a:chExt cx="10991850" cy="819150"/>
          </a:xfrm>
        </p:grpSpPr>
        <p:sp>
          <p:nvSpPr>
            <p:cNvPr id="2" name="TextBox 2"/>
            <p:cNvSpPr txBox="1"/>
            <p:nvPr/>
          </p:nvSpPr>
          <p:spPr>
            <a:xfrm>
              <a:off x="590550" y="454025"/>
              <a:ext cx="8999220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高长恭与薛嫔：两案不能混作一段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609600" y="12192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4" name="chang-gong-case"/>
          <p:cNvGrpSpPr/>
          <p:nvPr/>
        </p:nvGrpSpPr>
        <p:grpSpPr>
          <a:xfrm>
            <a:off x="685800" y="1733550"/>
            <a:ext cx="5105400" cy="3619500"/>
            <a:chOff x="685800" y="1733550"/>
            <a:chExt cx="5105400" cy="3619500"/>
          </a:xfrm>
        </p:grpSpPr>
        <p:sp>
          <p:nvSpPr>
            <p:cNvPr id="5" name="Rectangle 5"/>
            <p:cNvSpPr/>
            <p:nvPr/>
          </p:nvSpPr>
          <p:spPr>
            <a:xfrm>
              <a:off x="685800" y="1733550"/>
              <a:ext cx="5105400" cy="3619500"/>
            </a:xfrm>
            <a:prstGeom prst="roundRect">
              <a:avLst>
                <a:gd name="adj" fmla="val 1579"/>
              </a:avLst>
            </a:prstGeom>
            <a:solidFill>
              <a:srgbClr val="FBF8F0"/>
            </a:solidFill>
            <a:ln w="19050">
              <a:solidFill>
                <a:schemeClr val="accent2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82218" y="1997075"/>
              <a:ext cx="19478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573年 · 高纬时期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76122" y="2346325"/>
              <a:ext cx="246126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兰陵王高长恭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990600" y="2952750"/>
              <a:ext cx="4495800" cy="9525"/>
            </a:xfrm>
            <a:custGeom>
              <a:avLst/>
              <a:gdLst/>
              <a:ahLst/>
              <a:cxnLst/>
              <a:rect l="l" t="t" r="r" b="b"/>
              <a:pathLst>
                <a:path w="4495800" h="9525">
                  <a:moveTo>
                    <a:pt x="0" y="0"/>
                  </a:moveTo>
                  <a:lnTo>
                    <a:pt x="4495800" y="0"/>
                  </a:lnTo>
                </a:path>
              </a:pathLst>
            </a:custGeom>
            <a:noFill/>
            <a:ln w="9525">
              <a:solidFill>
                <a:srgbClr val="D7CEBD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80694" y="3149600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史书记载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81456" y="361315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高纬派徐之范送毒药。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82218" y="4083050"/>
              <a:ext cx="33486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人物关系：君主下令，近臣传送。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990600" y="4572000"/>
              <a:ext cx="4495800" cy="514350"/>
            </a:xfrm>
            <a:prstGeom prst="roundRect">
              <a:avLst>
                <a:gd name="adj" fmla="val 925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134618" y="4702175"/>
              <a:ext cx="33486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宗室身份与军功是政治背景线索。</a:t>
              </a:r>
            </a:p>
          </p:txBody>
        </p:sp>
      </p:grpSp>
      <p:grpSp>
        <p:nvGrpSpPr>
          <p:cNvPr id="25" name="xue-consort-case"/>
          <p:cNvGrpSpPr/>
          <p:nvPr/>
        </p:nvGrpSpPr>
        <p:grpSpPr>
          <a:xfrm>
            <a:off x="6400800" y="1733550"/>
            <a:ext cx="5105400" cy="3619500"/>
            <a:chOff x="6400800" y="1733550"/>
            <a:chExt cx="5105400" cy="3619500"/>
          </a:xfrm>
        </p:grpSpPr>
        <p:sp>
          <p:nvSpPr>
            <p:cNvPr id="15" name="Rectangle 15"/>
            <p:cNvSpPr/>
            <p:nvPr/>
          </p:nvSpPr>
          <p:spPr>
            <a:xfrm>
              <a:off x="6400800" y="1733550"/>
              <a:ext cx="5105400" cy="3619500"/>
            </a:xfrm>
            <a:prstGeom prst="roundRect">
              <a:avLst>
                <a:gd name="adj" fmla="val 1579"/>
              </a:avLst>
            </a:prstGeom>
            <a:solidFill>
              <a:srgbClr val="FBF8F0"/>
            </a:solidFill>
            <a:ln w="14288">
              <a:solidFill>
                <a:schemeClr val="accent3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697218" y="1997075"/>
              <a:ext cx="401646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天保年间 · 高洋时期 · 具体年份未定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691122" y="2346325"/>
              <a:ext cx="124510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薛嫔案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6705600" y="2952750"/>
              <a:ext cx="4495800" cy="9525"/>
            </a:xfrm>
            <a:custGeom>
              <a:avLst/>
              <a:gdLst/>
              <a:ahLst/>
              <a:cxnLst/>
              <a:rect l="l" t="t" r="r" b="b"/>
              <a:pathLst>
                <a:path w="4495800" h="9525">
                  <a:moveTo>
                    <a:pt x="0" y="0"/>
                  </a:moveTo>
                  <a:lnTo>
                    <a:pt x="4495800" y="0"/>
                  </a:lnTo>
                </a:path>
              </a:pathLst>
            </a:custGeom>
            <a:noFill/>
            <a:ln w="9525">
              <a:solidFill>
                <a:srgbClr val="D7CEBD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697218" y="3149600"/>
              <a:ext cx="25822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《北史》卷七·齐本纪中：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697218" y="3463925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记突然起疑与斩首。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697218" y="3892550"/>
              <a:ext cx="25822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《北史》卷十四·后妃传：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697218" y="4206875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补记怀孕、生产及其后被杀。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705600" y="4648200"/>
              <a:ext cx="4495800" cy="438150"/>
            </a:xfrm>
            <a:prstGeom prst="roundRect">
              <a:avLst>
                <a:gd name="adj" fmla="val 1087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849618" y="4730750"/>
              <a:ext cx="33486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两篇可比较，不能拼成确定现场。</a:t>
              </a:r>
            </a:p>
          </p:txBody>
        </p:sp>
      </p:grpSp>
      <p:grpSp>
        <p:nvGrpSpPr>
          <p:cNvPr id="27" name="comparison-note"/>
          <p:cNvGrpSpPr/>
          <p:nvPr/>
        </p:nvGrpSpPr>
        <p:grpSpPr>
          <a:xfrm>
            <a:off x="906018" y="5645150"/>
            <a:ext cx="6158465" cy="322707"/>
            <a:chOff x="906018" y="5645150"/>
            <a:chExt cx="6158465" cy="322707"/>
          </a:xfrm>
        </p:grpSpPr>
        <p:sp>
          <p:nvSpPr>
            <p:cNvPr id="26" name="TextBox 26"/>
            <p:cNvSpPr txBox="1"/>
            <p:nvPr/>
          </p:nvSpPr>
          <p:spPr>
            <a:xfrm>
              <a:off x="906018" y="5645150"/>
              <a:ext cx="61584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前案为573年高纬；薛嫔案属高洋时期，年代与文本各自标注。</a:t>
              </a:r>
            </a:p>
          </p:txBody>
        </p:sp>
      </p:grpSp>
      <p:grpSp>
        <p:nvGrpSpPr>
          <p:cNvPr id="31" name="footer"/>
          <p:cNvGrpSpPr/>
          <p:nvPr/>
        </p:nvGrpSpPr>
        <p:grpSpPr>
          <a:xfrm>
            <a:off x="602742" y="6191250"/>
            <a:ext cx="10979658" cy="413258"/>
            <a:chOff x="602742" y="6191250"/>
            <a:chExt cx="10979658" cy="413258"/>
          </a:xfrm>
        </p:grpSpPr>
        <p:sp>
          <p:nvSpPr>
            <p:cNvPr id="28" name="Line 28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02742" y="6340475"/>
              <a:ext cx="57475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出处：《北齐书》卷十一·兰陵王传；《北史》卷七、卷十四｜识典古籍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899267" y="6340475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09 / 12</a:t>
              </a:r>
            </a:p>
          </p:txBody>
        </p:sp>
      </p:grpSp>
      <p:pic>
        <p:nvPicPr>
          <p:cNvPr id="32" name="PPT Master narration: narration9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p14:dur="400" advClick="0" advTm="27228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8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6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8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84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8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20" fill="hold" display="0">
                  <p:stCondLst>
                    <p:cond delay="400"/>
                  </p:stCondLst>
                </p:cTn>
                <p:tgtEl>
                  <p:spTgt spid="32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90550" y="454025"/>
            <a:ext cx="10991850" cy="819150"/>
            <a:chOff x="590550" y="454025"/>
            <a:chExt cx="10991850" cy="819150"/>
          </a:xfrm>
        </p:grpSpPr>
        <p:sp>
          <p:nvSpPr>
            <p:cNvPr id="2" name="TextBox 2"/>
            <p:cNvSpPr txBox="1"/>
            <p:nvPr/>
          </p:nvSpPr>
          <p:spPr>
            <a:xfrm>
              <a:off x="590550" y="454025"/>
              <a:ext cx="720699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为什么会发生？原因有主次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609600" y="12192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0" name="cause-primary"/>
          <p:cNvGrpSpPr/>
          <p:nvPr/>
        </p:nvGrpSpPr>
        <p:grpSpPr>
          <a:xfrm>
            <a:off x="838200" y="1676400"/>
            <a:ext cx="10515600" cy="723900"/>
            <a:chOff x="838200" y="1676400"/>
            <a:chExt cx="10515600" cy="723900"/>
          </a:xfrm>
        </p:grpSpPr>
        <p:sp>
          <p:nvSpPr>
            <p:cNvPr id="5" name="Rectangle 5"/>
            <p:cNvSpPr/>
            <p:nvPr/>
          </p:nvSpPr>
          <p:spPr>
            <a:xfrm>
              <a:off x="838200" y="1676400"/>
              <a:ext cx="10515600" cy="723900"/>
            </a:xfrm>
            <a:prstGeom prst="roundRect">
              <a:avLst>
                <a:gd name="adj" fmla="val 7895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028700" y="1809750"/>
              <a:ext cx="457200" cy="457200"/>
            </a:xfrm>
            <a:prstGeom prst="ellipse">
              <a:avLst/>
            </a:prstGeom>
            <a:solidFill>
              <a:srgbClr val="FBF8F0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72718" y="1911350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684020" y="1720850"/>
              <a:ext cx="305181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BF8F0"/>
                  </a:solidFill>
                  <a:latin typeface="+mn-lt"/>
                  <a:ea typeface="+mn-ea"/>
                  <a:cs typeface="+mn-cs"/>
                </a:rPr>
                <a:t>主要背景：权力与安全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706237" y="1784350"/>
              <a:ext cx="3259176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FBF8F0"/>
                  </a:solidFill>
                  <a:latin typeface="+mn-lt"/>
                  <a:ea typeface="+mn-ea"/>
                  <a:cs typeface="+mn-cs"/>
                </a:rPr>
                <a:t>皇位继承、宗室地位、兵权控制</a:t>
              </a:r>
            </a:p>
          </p:txBody>
        </p:sp>
      </p:grpSp>
      <p:grpSp>
        <p:nvGrpSpPr>
          <p:cNvPr id="16" name="cause-enablers"/>
          <p:cNvGrpSpPr/>
          <p:nvPr/>
        </p:nvGrpSpPr>
        <p:grpSpPr>
          <a:xfrm>
            <a:off x="838200" y="2571750"/>
            <a:ext cx="10515600" cy="647700"/>
            <a:chOff x="838200" y="2571750"/>
            <a:chExt cx="10515600" cy="647700"/>
          </a:xfrm>
        </p:grpSpPr>
        <p:sp>
          <p:nvSpPr>
            <p:cNvPr id="11" name="Rectangle 11"/>
            <p:cNvSpPr/>
            <p:nvPr/>
          </p:nvSpPr>
          <p:spPr>
            <a:xfrm>
              <a:off x="838200" y="2571750"/>
              <a:ext cx="10515600" cy="647700"/>
            </a:xfrm>
            <a:prstGeom prst="roundRect">
              <a:avLst>
                <a:gd name="adj" fmla="val 882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1047750" y="2686050"/>
              <a:ext cx="419100" cy="419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171956" y="274320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BF8F0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685163" y="2730500"/>
              <a:ext cx="3555695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重要促成：宫廷竞争与信息链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297168" y="2768600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近臣、告发、谣言可能推动决策</a:t>
              </a:r>
            </a:p>
          </p:txBody>
        </p:sp>
      </p:grpSp>
      <p:grpSp>
        <p:nvGrpSpPr>
          <p:cNvPr id="22" name="cause-triggers"/>
          <p:cNvGrpSpPr/>
          <p:nvPr/>
        </p:nvGrpSpPr>
        <p:grpSpPr>
          <a:xfrm>
            <a:off x="838200" y="3390900"/>
            <a:ext cx="10515600" cy="647700"/>
            <a:chOff x="838200" y="3390900"/>
            <a:chExt cx="10515600" cy="647700"/>
          </a:xfrm>
        </p:grpSpPr>
        <p:sp>
          <p:nvSpPr>
            <p:cNvPr id="17" name="Rectangle 17"/>
            <p:cNvSpPr/>
            <p:nvPr/>
          </p:nvSpPr>
          <p:spPr>
            <a:xfrm>
              <a:off x="838200" y="3390900"/>
              <a:ext cx="10515600" cy="647700"/>
            </a:xfrm>
            <a:prstGeom prst="roundRect">
              <a:avLst>
                <a:gd name="adj" fmla="val 8824"/>
              </a:avLst>
            </a:prstGeom>
            <a:solidFill>
              <a:srgbClr val="FBF8F0"/>
            </a:solidFill>
            <a:ln w="14288">
              <a:solidFill>
                <a:schemeClr val="accent6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1047750" y="3505200"/>
              <a:ext cx="419100" cy="419100"/>
            </a:xfrm>
            <a:prstGeom prst="ellipse">
              <a:avLst/>
            </a:prstGeom>
            <a:solidFill>
              <a:srgbClr val="746B5D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171956" y="356235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BF8F0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685544" y="3549650"/>
              <a:ext cx="31699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个案触发：关系与具体行为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297168" y="3587750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劝谏、亲属冲突等须逐案看</a:t>
              </a:r>
            </a:p>
          </p:txBody>
        </p:sp>
      </p:grpSp>
      <p:grpSp>
        <p:nvGrpSpPr>
          <p:cNvPr id="28" name="cause-rhetoric"/>
          <p:cNvGrpSpPr/>
          <p:nvPr/>
        </p:nvGrpSpPr>
        <p:grpSpPr>
          <a:xfrm>
            <a:off x="838200" y="4210050"/>
            <a:ext cx="10515600" cy="647700"/>
            <a:chOff x="838200" y="4210050"/>
            <a:chExt cx="10515600" cy="647700"/>
          </a:xfrm>
        </p:grpSpPr>
        <p:sp>
          <p:nvSpPr>
            <p:cNvPr id="23" name="Rectangle 23"/>
            <p:cNvSpPr/>
            <p:nvPr/>
          </p:nvSpPr>
          <p:spPr>
            <a:xfrm>
              <a:off x="838200" y="4210050"/>
              <a:ext cx="10515600" cy="647700"/>
            </a:xfrm>
            <a:prstGeom prst="roundRect">
              <a:avLst>
                <a:gd name="adj" fmla="val 8824"/>
              </a:avLst>
            </a:prstGeom>
            <a:solidFill>
              <a:srgbClr val="FBF8F0"/>
            </a:solidFill>
            <a:ln w="14288">
              <a:solidFill>
                <a:srgbClr val="D7CEBD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1047750" y="4324350"/>
              <a:ext cx="419100" cy="419100"/>
            </a:xfrm>
            <a:prstGeom prst="ellipse">
              <a:avLst/>
            </a:prstGeom>
            <a:solidFill>
              <a:srgbClr val="746B5D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171956" y="438150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BF8F0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685544" y="4368800"/>
              <a:ext cx="31699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政治语言：礼制与历史典故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297168" y="4406900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能解释如何辩护，不能单独定因</a:t>
              </a:r>
            </a:p>
          </p:txBody>
        </p:sp>
      </p:grpSp>
      <p:grpSp>
        <p:nvGrpSpPr>
          <p:cNvPr id="33" name="cause-boundary"/>
          <p:cNvGrpSpPr/>
          <p:nvPr/>
        </p:nvGrpSpPr>
        <p:grpSpPr>
          <a:xfrm>
            <a:off x="914400" y="5124450"/>
            <a:ext cx="10363200" cy="652907"/>
            <a:chOff x="914400" y="5124450"/>
            <a:chExt cx="10363200" cy="652907"/>
          </a:xfrm>
        </p:grpSpPr>
        <p:sp>
          <p:nvSpPr>
            <p:cNvPr id="29" name="Rectangle 29"/>
            <p:cNvSpPr/>
            <p:nvPr/>
          </p:nvSpPr>
          <p:spPr>
            <a:xfrm>
              <a:off x="914400" y="5124450"/>
              <a:ext cx="10363200" cy="647700"/>
            </a:xfrm>
            <a:prstGeom prst="roundRect">
              <a:avLst>
                <a:gd name="adj" fmla="val 882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134618" y="518795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证据边界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515743" y="5187950"/>
              <a:ext cx="66955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这是本片根据P05—P09归纳的主次框架，不是史书原话或统计比例。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34618" y="5454650"/>
              <a:ext cx="49034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现有材料不足以对历史人物作现代精神疾病诊断。</a:t>
              </a:r>
            </a:p>
          </p:txBody>
        </p:sp>
      </p:grpSp>
      <p:grpSp>
        <p:nvGrpSpPr>
          <p:cNvPr id="37" name="footer"/>
          <p:cNvGrpSpPr/>
          <p:nvPr/>
        </p:nvGrpSpPr>
        <p:grpSpPr>
          <a:xfrm>
            <a:off x="602742" y="6191250"/>
            <a:ext cx="10979658" cy="413258"/>
            <a:chOff x="602742" y="6191250"/>
            <a:chExt cx="10979658" cy="413258"/>
          </a:xfrm>
        </p:grpSpPr>
        <p:sp>
          <p:nvSpPr>
            <p:cNvPr id="34" name="Line 34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02742" y="6340475"/>
              <a:ext cx="61461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案例依据：《北齐书》《北史》《资治通鉴》相关篇章；完整篇章入口见P12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899267" y="6340475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 / 12</a:t>
              </a:r>
            </a:p>
          </p:txBody>
        </p:sp>
      </p:grpSp>
      <p:pic>
        <p:nvPicPr>
          <p:cNvPr id="38" name="PPT Master narration: narration10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p14:dur="400" advClick="0" advTm="3138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8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6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84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62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8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4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8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28" fill="hold" display="0">
                  <p:stCondLst>
                    <p:cond delay="400"/>
                  </p:stCondLst>
                </p:cTn>
                <p:tgtEl>
                  <p:spTgt spid="38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title"/>
          <p:cNvGrpSpPr/>
          <p:nvPr/>
        </p:nvGrpSpPr>
        <p:grpSpPr>
          <a:xfrm>
            <a:off x="590550" y="431800"/>
            <a:ext cx="10991850" cy="1263650"/>
            <a:chOff x="590550" y="431800"/>
            <a:chExt cx="10991850" cy="1263650"/>
          </a:xfrm>
        </p:grpSpPr>
        <p:sp>
          <p:nvSpPr>
            <p:cNvPr id="2" name="TextBox 2"/>
            <p:cNvSpPr txBox="1"/>
            <p:nvPr/>
          </p:nvSpPr>
          <p:spPr>
            <a:xfrm>
              <a:off x="590550" y="431800"/>
              <a:ext cx="4608271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577年：北齐灭亡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884" y="1082675"/>
              <a:ext cx="502005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chemeClr val="accent5"/>
                  </a:solidFill>
                  <a:latin typeface="+mj-lt"/>
                  <a:ea typeface="+mj-ea"/>
                  <a:cs typeface="+mj-cs"/>
                </a:rPr>
                <a:t>不能用几桩宫廷案件解释全部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6859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22" name="collapse-sequence"/>
          <p:cNvGrpSpPr/>
          <p:nvPr/>
        </p:nvGrpSpPr>
        <p:grpSpPr>
          <a:xfrm>
            <a:off x="762000" y="2190750"/>
            <a:ext cx="10668000" cy="1809750"/>
            <a:chOff x="762000" y="2190750"/>
            <a:chExt cx="10668000" cy="1809750"/>
          </a:xfrm>
        </p:grpSpPr>
        <p:sp>
          <p:nvSpPr>
            <p:cNvPr id="6" name="Line 6"/>
            <p:cNvSpPr/>
            <p:nvPr/>
          </p:nvSpPr>
          <p:spPr>
            <a:xfrm>
              <a:off x="2533650" y="2876550"/>
              <a:ext cx="7105650" cy="9525"/>
            </a:xfrm>
            <a:custGeom>
              <a:avLst/>
              <a:gdLst/>
              <a:ahLst/>
              <a:cxnLst/>
              <a:rect l="l" t="t" r="r" b="b"/>
              <a:pathLst>
                <a:path w="7105650" h="9525">
                  <a:moveTo>
                    <a:pt x="0" y="0"/>
                  </a:moveTo>
                  <a:lnTo>
                    <a:pt x="7105650" y="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762000" y="2190750"/>
              <a:ext cx="3143250" cy="1809750"/>
            </a:xfrm>
            <a:prstGeom prst="roundRect">
              <a:avLst>
                <a:gd name="adj" fmla="val 3158"/>
              </a:avLst>
            </a:prstGeom>
            <a:solidFill>
              <a:srgbClr val="FBF8F0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4524375" y="2190750"/>
              <a:ext cx="3143250" cy="1809750"/>
            </a:xfrm>
            <a:prstGeom prst="roundRect">
              <a:avLst>
                <a:gd name="adj" fmla="val 3158"/>
              </a:avLst>
            </a:prstGeom>
            <a:solidFill>
              <a:srgbClr val="FBF8F0"/>
            </a:solidFill>
            <a:ln w="14288">
              <a:solidFill>
                <a:schemeClr val="accent6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8286750" y="2190750"/>
              <a:ext cx="3143250" cy="1809750"/>
            </a:xfrm>
            <a:prstGeom prst="roundRect">
              <a:avLst>
                <a:gd name="adj" fmla="val 3158"/>
              </a:avLst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2209800" y="2752725"/>
              <a:ext cx="247650" cy="2476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5972175" y="2752725"/>
              <a:ext cx="247650" cy="2476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9734550" y="2752725"/>
              <a:ext cx="247650" cy="2476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57656" y="239395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军事压力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53846" y="3041650"/>
              <a:ext cx="14767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北周进逼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58418" y="3530600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战事推动政权进入危局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820031" y="239395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朝廷应对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816221" y="3041650"/>
              <a:ext cx="183946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出逃、禅位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820793" y="3530600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后主与幼主先后行动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582406" y="239395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政权终结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578596" y="3041650"/>
              <a:ext cx="22021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被俘，北齐亡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583168" y="3530600"/>
              <a:ext cx="60539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577年</a:t>
              </a:r>
            </a:p>
          </p:txBody>
        </p:sp>
      </p:grpSp>
      <p:grpSp>
        <p:nvGrpSpPr>
          <p:cNvPr id="26" name="collapse-interpretation"/>
          <p:cNvGrpSpPr/>
          <p:nvPr/>
        </p:nvGrpSpPr>
        <p:grpSpPr>
          <a:xfrm>
            <a:off x="914400" y="4686300"/>
            <a:ext cx="10363200" cy="914400"/>
            <a:chOff x="914400" y="4686300"/>
            <a:chExt cx="10363200" cy="914400"/>
          </a:xfrm>
        </p:grpSpPr>
        <p:sp>
          <p:nvSpPr>
            <p:cNvPr id="23" name="Rectangle 23"/>
            <p:cNvSpPr/>
            <p:nvPr/>
          </p:nvSpPr>
          <p:spPr>
            <a:xfrm>
              <a:off x="914400" y="4686300"/>
              <a:ext cx="10363200" cy="914400"/>
            </a:xfrm>
            <a:prstGeom prst="roundRect">
              <a:avLst>
                <a:gd name="adj" fmla="val 625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171194" y="4816475"/>
              <a:ext cx="185737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怎样理解覆亡？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72337" y="5184775"/>
              <a:ext cx="742701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军事失败、朝廷应对与内部权力失序都要考察；前述案件不是唯一解释。</a:t>
              </a:r>
            </a:p>
          </p:txBody>
        </p:sp>
      </p:grpSp>
      <p:grpSp>
        <p:nvGrpSpPr>
          <p:cNvPr id="30" name="footer"/>
          <p:cNvGrpSpPr/>
          <p:nvPr/>
        </p:nvGrpSpPr>
        <p:grpSpPr>
          <a:xfrm>
            <a:off x="602742" y="6191250"/>
            <a:ext cx="10979658" cy="413258"/>
            <a:chOff x="602742" y="6191250"/>
            <a:chExt cx="10979658" cy="413258"/>
          </a:xfrm>
        </p:grpSpPr>
        <p:sp>
          <p:nvSpPr>
            <p:cNvPr id="27" name="Line 27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02742" y="6340475"/>
              <a:ext cx="44299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出处：《北齐书》·幼主传｜识典古籍 shidianguji.com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899267" y="6340475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11 / 12</a:t>
              </a:r>
            </a:p>
          </p:txBody>
        </p:sp>
      </p:grpSp>
      <p:pic>
        <p:nvPicPr>
          <p:cNvPr id="31" name="PPT Master narration: narration11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p14:dur="400" advClick="0" advTm="23675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8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8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6" fill="hold" display="0">
                  <p:stCondLst>
                    <p:cond delay="400"/>
                  </p:stCondLst>
                </p:cTn>
                <p:tgtEl>
                  <p:spTgt spid="31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90550" y="454025"/>
            <a:ext cx="10991850" cy="819150"/>
            <a:chOff x="590550" y="454025"/>
            <a:chExt cx="10991850" cy="819150"/>
          </a:xfrm>
        </p:grpSpPr>
        <p:sp>
          <p:nvSpPr>
            <p:cNvPr id="2" name="TextBox 2"/>
            <p:cNvSpPr txBox="1"/>
            <p:nvPr/>
          </p:nvSpPr>
          <p:spPr>
            <a:xfrm>
              <a:off x="590550" y="454025"/>
              <a:ext cx="6609588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读史料时，哪些能确认？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609600" y="12192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9" name="source-index-links"/>
          <p:cNvGrpSpPr/>
          <p:nvPr/>
        </p:nvGrpSpPr>
        <p:grpSpPr>
          <a:xfrm>
            <a:off x="609600" y="1657350"/>
            <a:ext cx="6934200" cy="3638550"/>
            <a:chOff x="609600" y="1657350"/>
            <a:chExt cx="6934200" cy="3638550"/>
          </a:xfrm>
        </p:grpSpPr>
        <p:sp>
          <p:nvSpPr>
            <p:cNvPr id="5" name="Rectangle 5"/>
            <p:cNvSpPr/>
            <p:nvPr/>
          </p:nvSpPr>
          <p:spPr>
            <a:xfrm>
              <a:off x="609600" y="1657350"/>
              <a:ext cx="6934200" cy="3638550"/>
            </a:xfrm>
            <a:prstGeom prst="roundRect">
              <a:avLst>
                <a:gd name="adj" fmla="val 1571"/>
              </a:avLst>
            </a:prstGeom>
            <a:solidFill>
              <a:srgbClr val="FBF8F0"/>
            </a:solidFill>
            <a:ln w="14288">
              <a:solidFill>
                <a:schemeClr val="accent6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29056" y="1793875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识典古籍原典入口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869942" y="1844675"/>
              <a:ext cx="16220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点击篇名打开原文 ↗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838200" y="2152650"/>
              <a:ext cx="6477000" cy="9525"/>
            </a:xfrm>
            <a:custGeom>
              <a:avLst/>
              <a:gdLst/>
              <a:ahLst/>
              <a:cxnLst/>
              <a:rect l="l" t="t" r="r" b="b"/>
              <a:pathLst>
                <a:path w="6477000" h="9525">
                  <a:moveTo>
                    <a:pt x="0" y="0"/>
                  </a:moveTo>
                  <a:lnTo>
                    <a:pt x="6477000" y="0"/>
                  </a:lnTo>
                </a:path>
              </a:pathLst>
            </a:custGeom>
            <a:noFill/>
            <a:ln w="9525">
              <a:solidFill>
                <a:srgbClr val="D7CEBD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29818" y="2216150"/>
              <a:ext cx="25822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u="sng" dirty="0">
                  <a:solidFill>
                    <a:schemeClr val="accent3"/>
                  </a:solidFill>
                  <a:latin typeface="+mn-lt"/>
                  <a:ea typeface="+mn-ea"/>
                  <a:cs typeface="+mn-cs"/>
                  <a:hlinkClick r:id="rId2"/>
                </a:rPr>
                <a:t>《北齐书》卷四·文宣帝纪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29818" y="2520950"/>
              <a:ext cx="28044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u="sng" dirty="0">
                  <a:solidFill>
                    <a:schemeClr val="accent3"/>
                  </a:solidFill>
                  <a:latin typeface="+mn-lt"/>
                  <a:ea typeface="+mn-ea"/>
                  <a:cs typeface="+mn-cs"/>
                  <a:hlinkClick r:id="rId3"/>
                </a:rPr>
                <a:t>《北齐书》卷三十·高德政传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9818" y="2825750"/>
              <a:ext cx="36929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u="sng" dirty="0">
                  <a:solidFill>
                    <a:schemeClr val="accent3"/>
                  </a:solidFill>
                  <a:latin typeface="+mn-lt"/>
                  <a:ea typeface="+mn-ea"/>
                  <a:cs typeface="+mn-cs"/>
                  <a:hlinkClick r:id="rId4"/>
                </a:rPr>
                <a:t>《北齐书》卷十一·河南康舒王孝瑜传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29818" y="3130550"/>
              <a:ext cx="32486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u="sng" dirty="0">
                  <a:solidFill>
                    <a:schemeClr val="accent3"/>
                  </a:solidFill>
                  <a:latin typeface="+mn-lt"/>
                  <a:ea typeface="+mn-ea"/>
                  <a:cs typeface="+mn-cs"/>
                  <a:hlinkClick r:id="rId5"/>
                </a:rPr>
                <a:t>《北齐书》卷十一·河间王孝琬传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29818" y="3435350"/>
              <a:ext cx="302653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u="sng" dirty="0">
                  <a:solidFill>
                    <a:schemeClr val="accent3"/>
                  </a:solidFill>
                  <a:latin typeface="+mn-lt"/>
                  <a:ea typeface="+mn-ea"/>
                  <a:cs typeface="+mn-cs"/>
                  <a:hlinkClick r:id="rId6"/>
                </a:rPr>
                <a:t>《北齐书》卷十二·琅邪王俨传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29818" y="3740150"/>
              <a:ext cx="28044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u="sng" dirty="0">
                  <a:solidFill>
                    <a:schemeClr val="accent3"/>
                  </a:solidFill>
                  <a:latin typeface="+mn-lt"/>
                  <a:ea typeface="+mn-ea"/>
                  <a:cs typeface="+mn-cs"/>
                  <a:hlinkClick r:id="rId7"/>
                </a:rPr>
                <a:t>《北齐书》卷十七·斛律光传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9818" y="4044950"/>
              <a:ext cx="347077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u="sng" dirty="0">
                  <a:solidFill>
                    <a:schemeClr val="accent3"/>
                  </a:solidFill>
                  <a:latin typeface="+mn-lt"/>
                  <a:ea typeface="+mn-ea"/>
                  <a:cs typeface="+mn-cs"/>
                  <a:hlinkClick r:id="rId8"/>
                </a:rPr>
                <a:t>《北齐书》卷十一·兰陵武王孝瓘传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29818" y="4349750"/>
              <a:ext cx="23601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u="sng" dirty="0">
                  <a:solidFill>
                    <a:schemeClr val="accent3"/>
                  </a:solidFill>
                  <a:latin typeface="+mn-lt"/>
                  <a:ea typeface="+mn-ea"/>
                  <a:cs typeface="+mn-cs"/>
                  <a:hlinkClick r:id="rId9"/>
                </a:rPr>
                <a:t>《北史》卷七·齐本纪中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29818" y="4654550"/>
              <a:ext cx="23601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u="sng" dirty="0">
                  <a:solidFill>
                    <a:schemeClr val="accent3"/>
                  </a:solidFill>
                  <a:latin typeface="+mn-lt"/>
                  <a:ea typeface="+mn-ea"/>
                  <a:cs typeface="+mn-cs"/>
                  <a:hlinkClick r:id="rId10"/>
                </a:rPr>
                <a:t>《北史》卷十四·后妃下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29818" y="4959350"/>
              <a:ext cx="19159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u="sng" dirty="0">
                  <a:solidFill>
                    <a:schemeClr val="accent3"/>
                  </a:solidFill>
                  <a:latin typeface="+mn-lt"/>
                  <a:ea typeface="+mn-ea"/>
                  <a:cs typeface="+mn-cs"/>
                  <a:hlinkClick r:id="rId11"/>
                </a:rPr>
                <a:t>《北齐书》·幼主传</a:t>
              </a:r>
            </a:p>
          </p:txBody>
        </p:sp>
      </p:grpSp>
      <p:grpSp>
        <p:nvGrpSpPr>
          <p:cNvPr id="32" name="reading-guide"/>
          <p:cNvGrpSpPr/>
          <p:nvPr/>
        </p:nvGrpSpPr>
        <p:grpSpPr>
          <a:xfrm>
            <a:off x="7772400" y="1657350"/>
            <a:ext cx="3810000" cy="3638550"/>
            <a:chOff x="7772400" y="1657350"/>
            <a:chExt cx="3810000" cy="3638550"/>
          </a:xfrm>
        </p:grpSpPr>
        <p:sp>
          <p:nvSpPr>
            <p:cNvPr id="20" name="Rectangle 20"/>
            <p:cNvSpPr/>
            <p:nvPr/>
          </p:nvSpPr>
          <p:spPr>
            <a:xfrm>
              <a:off x="7772400" y="1657350"/>
              <a:ext cx="3810000" cy="3638550"/>
            </a:xfrm>
            <a:prstGeom prst="roundRect">
              <a:avLst>
                <a:gd name="adj" fmla="val 157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029194" y="1768475"/>
              <a:ext cx="185737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读史时记住三点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972425" y="2314575"/>
              <a:ext cx="323850" cy="3238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070342" y="2387600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BF8F0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411718" y="2254250"/>
              <a:ext cx="1693164" cy="589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正史是后世编纂，</a:t>
              </a:r>
              <a:b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不是现场记录。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7972425" y="3076575"/>
              <a:ext cx="323850" cy="3238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070342" y="3149600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BF8F0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411718" y="3016250"/>
              <a:ext cx="2531364" cy="589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录文不等于版本校勘；</a:t>
              </a:r>
              <a:b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多书同文不等于独立见证。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7972425" y="3857625"/>
              <a:ext cx="323850" cy="3238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070342" y="3930650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BF8F0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411718" y="3797300"/>
              <a:ext cx="1902714" cy="589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事件记载与本片解释</a:t>
              </a:r>
              <a:b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要分开阅读。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030718" y="4635500"/>
              <a:ext cx="2740914" cy="589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《资治通鉴》用于异文对照，</a:t>
              </a:r>
              <a:b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卷次见相关事件页脚。</a:t>
              </a:r>
            </a:p>
          </p:txBody>
        </p:sp>
      </p:grpSp>
      <p:grpSp>
        <p:nvGrpSpPr>
          <p:cNvPr id="35" name="course-site-link"/>
          <p:cNvGrpSpPr/>
          <p:nvPr/>
        </p:nvGrpSpPr>
        <p:grpSpPr>
          <a:xfrm>
            <a:off x="609600" y="5467350"/>
            <a:ext cx="6934200" cy="457200"/>
            <a:chOff x="609600" y="5467350"/>
            <a:chExt cx="6934200" cy="457200"/>
          </a:xfrm>
        </p:grpSpPr>
        <p:sp>
          <p:nvSpPr>
            <p:cNvPr id="33" name="Rectangle 33"/>
            <p:cNvSpPr/>
            <p:nvPr/>
          </p:nvSpPr>
          <p:spPr>
            <a:xfrm>
              <a:off x="609600" y="5467350"/>
              <a:ext cx="6934200" cy="457200"/>
            </a:xfrm>
            <a:prstGeom prst="roundRect">
              <a:avLst>
                <a:gd name="adj" fmla="val 125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29056" y="5556250"/>
              <a:ext cx="385899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u="sng" dirty="0">
                  <a:solidFill>
                    <a:srgbClr val="FBF8F0"/>
                  </a:solidFill>
                  <a:latin typeface="+mn-lt"/>
                  <a:ea typeface="+mn-ea"/>
                  <a:cs typeface="+mn-cs"/>
                  <a:hlinkClick r:id="rId12"/>
                </a:rPr>
                <a:t>课程网站：回到原典，再继续探索 →</a:t>
              </a:r>
            </a:p>
          </p:txBody>
        </p:sp>
      </p:grpSp>
      <p:grpSp>
        <p:nvGrpSpPr>
          <p:cNvPr id="39" name="footer"/>
          <p:cNvGrpSpPr/>
          <p:nvPr/>
        </p:nvGrpSpPr>
        <p:grpSpPr>
          <a:xfrm>
            <a:off x="602742" y="6191250"/>
            <a:ext cx="10979658" cy="413258"/>
            <a:chOff x="602742" y="6191250"/>
            <a:chExt cx="10979658" cy="413258"/>
          </a:xfrm>
        </p:grpSpPr>
        <p:sp>
          <p:nvSpPr>
            <p:cNvPr id="36" name="Line 36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02742" y="6340475"/>
              <a:ext cx="69197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主要原典：《北齐书》《北史》；异文参照《资治通鉴》｜读到此处，请回到原文核对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899267" y="6340475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12 / 12</a:t>
              </a:r>
            </a:p>
          </p:txBody>
        </p:sp>
      </p:grpSp>
      <p:pic>
        <p:nvPicPr>
          <p:cNvPr id="40" name="PPT Master narration: narration12.mp3">
            <a:hlinkClick r:id="" action="ppaction://media"/>
          </p:cNvPr>
          <p:cNvPicPr>
            <a:picLocks noChangeAspect="1"/>
          </p:cNvPicPr>
          <p:nvPr>
            <a:audioFile r:link="rId15"/>
            <p:extLst>
              <p:ext uri="{DAA4B4D4-6D71-4841-9C94-3DE7FCFB9230}">
                <p14:media r:embed="rId14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p14:dur="400" advClick="0" advTm="27228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8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8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88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8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20" fill="hold" display="0">
                  <p:stCondLst>
                    <p:cond delay="400"/>
                  </p:stCondLst>
                </p:cTn>
                <p:tgtEl>
                  <p:spTgt spid="40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northern-qi-timeline-video">
  <a:themeElements>
    <a:clrScheme name="northern-qi-timeline-video">
      <a:dk1>
        <a:srgbClr val="34312B"/>
      </a:dk1>
      <a:lt1>
        <a:srgbClr val="F4EFE3"/>
      </a:lt1>
      <a:dk2>
        <a:srgbClr val="1F497D"/>
      </a:dk2>
      <a:lt2>
        <a:srgbClr val="E9E0CC"/>
      </a:lt2>
      <a:accent1>
        <a:srgbClr val="2B2924"/>
      </a:accent1>
      <a:accent2>
        <a:srgbClr val="A53C32"/>
      </a:accent2>
      <a:accent3>
        <a:srgbClr val="546C64"/>
      </a:accent3>
      <a:accent4>
        <a:srgbClr val="2B2924"/>
      </a:accent4>
      <a:accent5>
        <a:srgbClr val="746B5D"/>
      </a:accent5>
      <a:accent6>
        <a:srgbClr val="B9AE96"/>
      </a:accent6>
      <a:hlink>
        <a:srgbClr val="A53C32"/>
      </a:hlink>
      <a:folHlink>
        <a:srgbClr val="546C64"/>
      </a:folHlink>
    </a:clrScheme>
    <a:fontScheme name="northern-qi-timeline-video">
      <a:majorFont>
        <a:latin typeface="Cambria"/>
        <a:ea typeface="SimSun"/>
        <a:cs typeface="Cambria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northern-qi-timeline-vide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northern-qi-timeline-video">
  <a:themeElements>
    <a:clrScheme name="northern-qi-timeline-video">
      <a:dk1>
        <a:srgbClr val="34312B"/>
      </a:dk1>
      <a:lt1>
        <a:srgbClr val="F4EFE3"/>
      </a:lt1>
      <a:dk2>
        <a:srgbClr val="1F497D"/>
      </a:dk2>
      <a:lt2>
        <a:srgbClr val="E9E0CC"/>
      </a:lt2>
      <a:accent1>
        <a:srgbClr val="2B2924"/>
      </a:accent1>
      <a:accent2>
        <a:srgbClr val="A53C32"/>
      </a:accent2>
      <a:accent3>
        <a:srgbClr val="546C64"/>
      </a:accent3>
      <a:accent4>
        <a:srgbClr val="2B2924"/>
      </a:accent4>
      <a:accent5>
        <a:srgbClr val="746B5D"/>
      </a:accent5>
      <a:accent6>
        <a:srgbClr val="B9AE96"/>
      </a:accent6>
      <a:hlink>
        <a:srgbClr val="A53C32"/>
      </a:hlink>
      <a:folHlink>
        <a:srgbClr val="546C64"/>
      </a:folHlink>
    </a:clrScheme>
    <a:fontScheme name="northern-qi-timeline-video">
      <a:majorFont>
        <a:latin typeface="Cambria"/>
        <a:ea typeface="SimSun"/>
        <a:cs typeface="Cambria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northern-qi-timeline-vide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2026-10-31T13:59:50Z</dcterms:created>
  <dcterms:modified xsi:type="dcterms:W3CDTF">2026-10-31T13:59:50Z</dcterms:modified>
  <cp:category/>
  <cp:contentStatus/>
</cp:coreProperties>
</file>